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hewy" panose="020B0604020202020204" charset="0"/>
      <p:regular r:id="rId16"/>
    </p:embeddedFont>
    <p:embeddedFont>
      <p:font typeface="DM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28"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9.png"/><Relationship Id="rId3" Type="http://schemas.openxmlformats.org/officeDocument/2006/relationships/image" Target="../media/image2.svg"/><Relationship Id="rId21" Type="http://schemas.openxmlformats.org/officeDocument/2006/relationships/image" Target="../media/image22.svg"/><Relationship Id="rId7" Type="http://schemas.openxmlformats.org/officeDocument/2006/relationships/image" Target="../media/image6.svg"/><Relationship Id="rId12" Type="http://schemas.openxmlformats.org/officeDocument/2006/relationships/image" Target="../media/image13.png"/><Relationship Id="rId17" Type="http://schemas.openxmlformats.org/officeDocument/2006/relationships/image" Target="../media/image18.svg"/><Relationship Id="rId25" Type="http://schemas.openxmlformats.org/officeDocument/2006/relationships/image" Target="../media/image26.svg"/><Relationship Id="rId2" Type="http://schemas.openxmlformats.org/officeDocument/2006/relationships/image" Target="../media/image1.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2.svg"/><Relationship Id="rId24" Type="http://schemas.openxmlformats.org/officeDocument/2006/relationships/image" Target="../media/image25.png"/><Relationship Id="rId5" Type="http://schemas.openxmlformats.org/officeDocument/2006/relationships/image" Target="../media/image4.svg"/><Relationship Id="rId15" Type="http://schemas.openxmlformats.org/officeDocument/2006/relationships/image" Target="../media/image16.svg"/><Relationship Id="rId23" Type="http://schemas.openxmlformats.org/officeDocument/2006/relationships/image" Target="../media/image24.svg"/><Relationship Id="rId10" Type="http://schemas.openxmlformats.org/officeDocument/2006/relationships/image" Target="../media/image11.png"/><Relationship Id="rId19" Type="http://schemas.openxmlformats.org/officeDocument/2006/relationships/image" Target="../media/image20.svg"/><Relationship Id="rId4" Type="http://schemas.openxmlformats.org/officeDocument/2006/relationships/image" Target="../media/image3.png"/><Relationship Id="rId9" Type="http://schemas.openxmlformats.org/officeDocument/2006/relationships/image" Target="../media/image10.svg"/><Relationship Id="rId14" Type="http://schemas.openxmlformats.org/officeDocument/2006/relationships/image" Target="../media/image15.png"/><Relationship Id="rId22"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28" Type="http://schemas.openxmlformats.org/officeDocument/2006/relationships/image" Target="../media/image29.jpe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5" Type="http://schemas.openxmlformats.org/officeDocument/2006/relationships/image" Target="../media/image24.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3708720"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5161045" y="2405490"/>
            <a:ext cx="7965911" cy="5266470"/>
          </a:xfrm>
          <a:prstGeom prst="rect">
            <a:avLst/>
          </a:prstGeom>
        </p:spPr>
        <p:txBody>
          <a:bodyPr lIns="0" tIns="0" rIns="0" bIns="0" rtlCol="0" anchor="t">
            <a:spAutoFit/>
          </a:bodyPr>
          <a:lstStyle/>
          <a:p>
            <a:pPr algn="ctr">
              <a:lnSpc>
                <a:spcPts val="13976"/>
              </a:lnSpc>
            </a:pPr>
            <a:r>
              <a:rPr lang="en-US" sz="9983">
                <a:solidFill>
                  <a:srgbClr val="46513D"/>
                </a:solidFill>
                <a:latin typeface="Chewy"/>
                <a:ea typeface="Chewy"/>
                <a:cs typeface="Chewy"/>
                <a:sym typeface="Chewy"/>
              </a:rPr>
              <a:t>KNOWLEDGE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3708720"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Freeform 16"/>
          <p:cNvSpPr/>
          <p:nvPr/>
        </p:nvSpPr>
        <p:spPr>
          <a:xfrm>
            <a:off x="5548085" y="5542414"/>
            <a:ext cx="503132" cy="501302"/>
          </a:xfrm>
          <a:custGeom>
            <a:avLst/>
            <a:gdLst/>
            <a:ahLst/>
            <a:cxnLst/>
            <a:rect l="l" t="t" r="r" b="b"/>
            <a:pathLst>
              <a:path w="503132" h="501302">
                <a:moveTo>
                  <a:pt x="0" y="0"/>
                </a:moveTo>
                <a:lnTo>
                  <a:pt x="503132" y="0"/>
                </a:lnTo>
                <a:lnTo>
                  <a:pt x="503132" y="501302"/>
                </a:lnTo>
                <a:lnTo>
                  <a:pt x="0" y="501302"/>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17" name="TextBox 17"/>
          <p:cNvSpPr txBox="1"/>
          <p:nvPr/>
        </p:nvSpPr>
        <p:spPr>
          <a:xfrm>
            <a:off x="6156930" y="2872460"/>
            <a:ext cx="5974140" cy="2490841"/>
          </a:xfrm>
          <a:prstGeom prst="rect">
            <a:avLst/>
          </a:prstGeom>
        </p:spPr>
        <p:txBody>
          <a:bodyPr lIns="0" tIns="0" rIns="0" bIns="0" rtlCol="0" anchor="t">
            <a:spAutoFit/>
          </a:bodyPr>
          <a:lstStyle/>
          <a:p>
            <a:pPr algn="ctr">
              <a:lnSpc>
                <a:spcPts val="9523"/>
              </a:lnSpc>
            </a:pPr>
            <a:r>
              <a:rPr lang="en-US" sz="9717">
                <a:solidFill>
                  <a:srgbClr val="46513D"/>
                </a:solidFill>
                <a:latin typeface="Chewy"/>
                <a:ea typeface="Chewy"/>
                <a:cs typeface="Chewy"/>
                <a:sym typeface="Chewy"/>
              </a:rPr>
              <a:t>anggota</a:t>
            </a:r>
          </a:p>
          <a:p>
            <a:pPr algn="ctr">
              <a:lnSpc>
                <a:spcPts val="9523"/>
              </a:lnSpc>
            </a:pPr>
            <a:r>
              <a:rPr lang="en-US" sz="9717">
                <a:solidFill>
                  <a:srgbClr val="46513D"/>
                </a:solidFill>
                <a:latin typeface="Chewy"/>
                <a:ea typeface="Chewy"/>
                <a:cs typeface="Chewy"/>
                <a:sym typeface="Chewy"/>
              </a:rPr>
              <a:t>KELOMPOK</a:t>
            </a:r>
          </a:p>
        </p:txBody>
      </p:sp>
      <p:sp>
        <p:nvSpPr>
          <p:cNvPr id="18" name="TextBox 18"/>
          <p:cNvSpPr txBox="1"/>
          <p:nvPr/>
        </p:nvSpPr>
        <p:spPr>
          <a:xfrm>
            <a:off x="6296266" y="5484792"/>
            <a:ext cx="6708766" cy="598135"/>
          </a:xfrm>
          <a:prstGeom prst="rect">
            <a:avLst/>
          </a:prstGeom>
        </p:spPr>
        <p:txBody>
          <a:bodyPr lIns="0" tIns="0" rIns="0" bIns="0" rtlCol="0" anchor="t">
            <a:spAutoFit/>
          </a:bodyPr>
          <a:lstStyle/>
          <a:p>
            <a:pPr algn="l">
              <a:lnSpc>
                <a:spcPts val="4831"/>
              </a:lnSpc>
            </a:pPr>
            <a:r>
              <a:rPr lang="en-US" sz="3451">
                <a:solidFill>
                  <a:srgbClr val="46513D"/>
                </a:solidFill>
                <a:latin typeface="Chewy"/>
                <a:ea typeface="Chewy"/>
                <a:cs typeface="Chewy"/>
                <a:sym typeface="Chewy"/>
              </a:rPr>
              <a:t>Andrean Bagus Prasetya / 221054004</a:t>
            </a:r>
          </a:p>
        </p:txBody>
      </p:sp>
      <p:sp>
        <p:nvSpPr>
          <p:cNvPr id="19" name="Freeform 19"/>
          <p:cNvSpPr/>
          <p:nvPr/>
        </p:nvSpPr>
        <p:spPr>
          <a:xfrm>
            <a:off x="5548085" y="6429341"/>
            <a:ext cx="503132" cy="501302"/>
          </a:xfrm>
          <a:custGeom>
            <a:avLst/>
            <a:gdLst/>
            <a:ahLst/>
            <a:cxnLst/>
            <a:rect l="l" t="t" r="r" b="b"/>
            <a:pathLst>
              <a:path w="503132" h="501302">
                <a:moveTo>
                  <a:pt x="0" y="0"/>
                </a:moveTo>
                <a:lnTo>
                  <a:pt x="503132" y="0"/>
                </a:lnTo>
                <a:lnTo>
                  <a:pt x="503132" y="501302"/>
                </a:lnTo>
                <a:lnTo>
                  <a:pt x="0" y="501302"/>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20" name="TextBox 20"/>
          <p:cNvSpPr txBox="1"/>
          <p:nvPr/>
        </p:nvSpPr>
        <p:spPr>
          <a:xfrm>
            <a:off x="6296266" y="6371719"/>
            <a:ext cx="6443648" cy="598135"/>
          </a:xfrm>
          <a:prstGeom prst="rect">
            <a:avLst/>
          </a:prstGeom>
        </p:spPr>
        <p:txBody>
          <a:bodyPr lIns="0" tIns="0" rIns="0" bIns="0" rtlCol="0" anchor="t">
            <a:spAutoFit/>
          </a:bodyPr>
          <a:lstStyle/>
          <a:p>
            <a:pPr algn="l">
              <a:lnSpc>
                <a:spcPts val="4831"/>
              </a:lnSpc>
            </a:pPr>
            <a:r>
              <a:rPr lang="en-US" sz="3451">
                <a:solidFill>
                  <a:srgbClr val="46513D"/>
                </a:solidFill>
                <a:latin typeface="Chewy"/>
                <a:ea typeface="Chewy"/>
                <a:cs typeface="Chewy"/>
                <a:sym typeface="Chewy"/>
              </a:rPr>
              <a:t>Ilham Sabillah Chaniago / 221058016</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141733">
            <a:off x="13708720"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TextBox 15"/>
          <p:cNvSpPr txBox="1"/>
          <p:nvPr/>
        </p:nvSpPr>
        <p:spPr>
          <a:xfrm>
            <a:off x="7575832" y="876300"/>
            <a:ext cx="3136336" cy="1268903"/>
          </a:xfrm>
          <a:prstGeom prst="rect">
            <a:avLst/>
          </a:prstGeom>
        </p:spPr>
        <p:txBody>
          <a:bodyPr lIns="0" tIns="0" rIns="0" bIns="0" rtlCol="0" anchor="t">
            <a:spAutoFit/>
          </a:bodyPr>
          <a:lstStyle/>
          <a:p>
            <a:pPr algn="ctr">
              <a:lnSpc>
                <a:spcPts val="10283"/>
              </a:lnSpc>
            </a:pPr>
            <a:r>
              <a:rPr lang="en-US" sz="7345">
                <a:solidFill>
                  <a:srgbClr val="46513D"/>
                </a:solidFill>
                <a:latin typeface="Chewy"/>
                <a:ea typeface="Chewy"/>
                <a:cs typeface="Chewy"/>
                <a:sym typeface="Chewy"/>
              </a:rPr>
              <a:t>APA ITU</a:t>
            </a:r>
          </a:p>
        </p:txBody>
      </p:sp>
      <p:sp>
        <p:nvSpPr>
          <p:cNvPr id="16" name="TextBox 16"/>
          <p:cNvSpPr txBox="1"/>
          <p:nvPr/>
        </p:nvSpPr>
        <p:spPr>
          <a:xfrm>
            <a:off x="2371653" y="3305195"/>
            <a:ext cx="13544694" cy="5043170"/>
          </a:xfrm>
          <a:prstGeom prst="rect">
            <a:avLst/>
          </a:prstGeom>
        </p:spPr>
        <p:txBody>
          <a:bodyPr lIns="0" tIns="0" rIns="0" bIns="0" rtlCol="0" anchor="t">
            <a:spAutoFit/>
          </a:bodyPr>
          <a:lstStyle/>
          <a:p>
            <a:pPr algn="just">
              <a:lnSpc>
                <a:spcPts val="4480"/>
              </a:lnSpc>
            </a:pPr>
            <a:r>
              <a:rPr lang="en-US" sz="3200" b="1">
                <a:solidFill>
                  <a:srgbClr val="46513D"/>
                </a:solidFill>
                <a:latin typeface="DM Sans Bold"/>
                <a:ea typeface="DM Sans Bold"/>
                <a:cs typeface="DM Sans Bold"/>
                <a:sym typeface="DM Sans Bold"/>
              </a:rPr>
              <a:t>Knowledge Management System (KMS) adalah sistem yang digunakan untuk mengelola pengetahuan dalam organisasi atau perusahaan agar dapat diciptakan, disimpan, dibagikan, dan dimanfaatkan kembali secara efektif.</a:t>
            </a:r>
          </a:p>
          <a:p>
            <a:pPr algn="just">
              <a:lnSpc>
                <a:spcPts val="4480"/>
              </a:lnSpc>
            </a:pPr>
            <a:endParaRPr lang="en-US" sz="3200" b="1">
              <a:solidFill>
                <a:srgbClr val="46513D"/>
              </a:solidFill>
              <a:latin typeface="DM Sans Bold"/>
              <a:ea typeface="DM Sans Bold"/>
              <a:cs typeface="DM Sans Bold"/>
              <a:sym typeface="DM Sans Bold"/>
            </a:endParaRPr>
          </a:p>
          <a:p>
            <a:pPr algn="just">
              <a:lnSpc>
                <a:spcPts val="4480"/>
              </a:lnSpc>
            </a:pPr>
            <a:r>
              <a:rPr lang="en-US" sz="3200" b="1">
                <a:solidFill>
                  <a:srgbClr val="46513D"/>
                </a:solidFill>
                <a:latin typeface="DM Sans Bold"/>
                <a:ea typeface="DM Sans Bold"/>
                <a:cs typeface="DM Sans Bold"/>
                <a:sym typeface="DM Sans Bold"/>
              </a:rPr>
              <a:t>Sistem ini mencakup teknologi, proses, dan sumber daya manusia agar pengetahuan tacit (yang tersimpan didalam individu) dan eksplisit (yang terdokumentasi) dapat dikelola untuk mendukung tujuan organisasi.</a:t>
            </a:r>
          </a:p>
        </p:txBody>
      </p:sp>
      <p:sp>
        <p:nvSpPr>
          <p:cNvPr id="17" name="TextBox 17"/>
          <p:cNvSpPr txBox="1"/>
          <p:nvPr/>
        </p:nvSpPr>
        <p:spPr>
          <a:xfrm>
            <a:off x="2458741" y="2000060"/>
            <a:ext cx="13370518" cy="1265255"/>
          </a:xfrm>
          <a:prstGeom prst="rect">
            <a:avLst/>
          </a:prstGeom>
        </p:spPr>
        <p:txBody>
          <a:bodyPr lIns="0" tIns="0" rIns="0" bIns="0" rtlCol="0" anchor="t">
            <a:spAutoFit/>
          </a:bodyPr>
          <a:lstStyle/>
          <a:p>
            <a:pPr algn="ctr">
              <a:lnSpc>
                <a:spcPts val="10249"/>
              </a:lnSpc>
            </a:pPr>
            <a:r>
              <a:rPr lang="en-US" sz="7321">
                <a:solidFill>
                  <a:srgbClr val="46513D"/>
                </a:solidFill>
                <a:latin typeface="Chewy"/>
                <a:ea typeface="Chewy"/>
                <a:cs typeface="Chewy"/>
                <a:sym typeface="Chewy"/>
              </a:rPr>
              <a:t>KNOWLEDGE MANAGEMENT SYSTEM</a:t>
            </a: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3708720"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7082320" y="945553"/>
            <a:ext cx="4123361" cy="1686742"/>
          </a:xfrm>
          <a:prstGeom prst="rect">
            <a:avLst/>
          </a:prstGeom>
        </p:spPr>
        <p:txBody>
          <a:bodyPr lIns="0" tIns="0" rIns="0" bIns="0" rtlCol="0" anchor="t">
            <a:spAutoFit/>
          </a:bodyPr>
          <a:lstStyle/>
          <a:p>
            <a:pPr algn="ctr">
              <a:lnSpc>
                <a:spcPts val="13604"/>
              </a:lnSpc>
            </a:pPr>
            <a:r>
              <a:rPr lang="en-US" sz="9717">
                <a:solidFill>
                  <a:srgbClr val="46513D"/>
                </a:solidFill>
                <a:latin typeface="Chewy"/>
                <a:ea typeface="Chewy"/>
                <a:cs typeface="Chewy"/>
                <a:sym typeface="Chewy"/>
              </a:rPr>
              <a:t>TUJUAN</a:t>
            </a:r>
          </a:p>
        </p:txBody>
      </p:sp>
      <p:sp>
        <p:nvSpPr>
          <p:cNvPr id="17" name="TextBox 17"/>
          <p:cNvSpPr txBox="1"/>
          <p:nvPr/>
        </p:nvSpPr>
        <p:spPr>
          <a:xfrm>
            <a:off x="1750098" y="2751067"/>
            <a:ext cx="14787803" cy="5624195"/>
          </a:xfrm>
          <a:prstGeom prst="rect">
            <a:avLst/>
          </a:prstGeom>
        </p:spPr>
        <p:txBody>
          <a:bodyPr lIns="0" tIns="0" rIns="0" bIns="0" rtlCol="0" anchor="t">
            <a:spAutoFit/>
          </a:bodyPr>
          <a:lstStyle/>
          <a:p>
            <a:pPr marL="690881" lvl="1" indent="-345440" algn="just">
              <a:lnSpc>
                <a:spcPts val="4480"/>
              </a:lnSpc>
              <a:buFont typeface="Arial"/>
              <a:buChar char="•"/>
            </a:pPr>
            <a:r>
              <a:rPr lang="en-US" sz="3200" b="1">
                <a:solidFill>
                  <a:srgbClr val="46513D"/>
                </a:solidFill>
                <a:latin typeface="DM Sans Bold"/>
                <a:ea typeface="DM Sans Bold"/>
                <a:cs typeface="DM Sans Bold"/>
                <a:sym typeface="DM Sans Bold"/>
              </a:rPr>
              <a:t>Menjadikan pengetahuan sebagai aset penting perusahaan, sehingga informasi dan pengalaman kerja dapat terdokumentasi dengan baik dan tidak hilang.</a:t>
            </a:r>
          </a:p>
          <a:p>
            <a:pPr marL="690881" lvl="1" indent="-345440" algn="just">
              <a:lnSpc>
                <a:spcPts val="4480"/>
              </a:lnSpc>
              <a:buFont typeface="Arial"/>
              <a:buChar char="•"/>
            </a:pPr>
            <a:r>
              <a:rPr lang="en-US" sz="3200" b="1">
                <a:solidFill>
                  <a:srgbClr val="46513D"/>
                </a:solidFill>
                <a:latin typeface="DM Sans Bold"/>
                <a:ea typeface="DM Sans Bold"/>
                <a:cs typeface="DM Sans Bold"/>
                <a:sym typeface="DM Sans Bold"/>
              </a:rPr>
              <a:t>Mempermudah akses serta distribusi pengetahuan antar individu maupun divisi, agar proses kerja lebih cepat dan efisien.</a:t>
            </a:r>
          </a:p>
          <a:p>
            <a:pPr marL="690881" lvl="1" indent="-345440" algn="just">
              <a:lnSpc>
                <a:spcPts val="4480"/>
              </a:lnSpc>
              <a:buFont typeface="Arial"/>
              <a:buChar char="•"/>
            </a:pPr>
            <a:r>
              <a:rPr lang="en-US" sz="3200" b="1">
                <a:solidFill>
                  <a:srgbClr val="46513D"/>
                </a:solidFill>
                <a:latin typeface="DM Sans Bold"/>
                <a:ea typeface="DM Sans Bold"/>
                <a:cs typeface="DM Sans Bold"/>
                <a:sym typeface="DM Sans Bold"/>
              </a:rPr>
              <a:t>Meningkatkan efisiensi dan produktivitas kerja melalui pemanfaatan kembali pengetahuan yang telah ada.</a:t>
            </a:r>
          </a:p>
          <a:p>
            <a:pPr marL="690881" lvl="1" indent="-345440" algn="just">
              <a:lnSpc>
                <a:spcPts val="4480"/>
              </a:lnSpc>
              <a:buFont typeface="Arial"/>
              <a:buChar char="•"/>
            </a:pPr>
            <a:r>
              <a:rPr lang="en-US" sz="3200" b="1">
                <a:solidFill>
                  <a:srgbClr val="46513D"/>
                </a:solidFill>
                <a:latin typeface="DM Sans Bold"/>
                <a:ea typeface="DM Sans Bold"/>
                <a:cs typeface="DM Sans Bold"/>
                <a:sym typeface="DM Sans Bold"/>
              </a:rPr>
              <a:t>Mendukung inovasi dan pembelajaran organisasi secara berkelanjutan, dengan mendorong budaya berbagi pengetahuan di lingkungan kerja.</a:t>
            </a:r>
          </a:p>
          <a:p>
            <a:pPr algn="just">
              <a:lnSpc>
                <a:spcPts val="4480"/>
              </a:lnSpc>
            </a:pPr>
            <a:endParaRPr lang="en-US" sz="3200" b="1">
              <a:solidFill>
                <a:srgbClr val="46513D"/>
              </a:solidFill>
              <a:latin typeface="DM Sans Bold"/>
              <a:ea typeface="DM Sans Bold"/>
              <a:cs typeface="DM Sans Bold"/>
              <a:sym typeface="DM Sans Bold"/>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3708720"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2370247" y="993178"/>
            <a:ext cx="13547506" cy="1263741"/>
          </a:xfrm>
          <a:prstGeom prst="rect">
            <a:avLst/>
          </a:prstGeom>
        </p:spPr>
        <p:txBody>
          <a:bodyPr lIns="0" tIns="0" rIns="0" bIns="0" rtlCol="0" anchor="t">
            <a:spAutoFit/>
          </a:bodyPr>
          <a:lstStyle/>
          <a:p>
            <a:pPr algn="ctr">
              <a:lnSpc>
                <a:spcPts val="10147"/>
              </a:lnSpc>
            </a:pPr>
            <a:r>
              <a:rPr lang="en-US" sz="7248">
                <a:solidFill>
                  <a:srgbClr val="46513D"/>
                </a:solidFill>
                <a:latin typeface="Chewy"/>
                <a:ea typeface="Chewy"/>
                <a:cs typeface="Chewy"/>
                <a:sym typeface="Chewy"/>
              </a:rPr>
              <a:t>MODUL DAN CONTOH</a:t>
            </a:r>
          </a:p>
        </p:txBody>
      </p:sp>
      <p:sp>
        <p:nvSpPr>
          <p:cNvPr id="17" name="TextBox 17"/>
          <p:cNvSpPr txBox="1"/>
          <p:nvPr/>
        </p:nvSpPr>
        <p:spPr>
          <a:xfrm>
            <a:off x="1592504" y="2624810"/>
            <a:ext cx="15506623" cy="5469160"/>
          </a:xfrm>
          <a:prstGeom prst="rect">
            <a:avLst/>
          </a:prstGeom>
        </p:spPr>
        <p:txBody>
          <a:bodyPr lIns="0" tIns="0" rIns="0" bIns="0" rtlCol="0" anchor="t">
            <a:spAutoFit/>
          </a:bodyPr>
          <a:lstStyle/>
          <a:p>
            <a:pPr marL="673918" lvl="1" indent="-336959" algn="just">
              <a:lnSpc>
                <a:spcPts val="4370"/>
              </a:lnSpc>
              <a:buFont typeface="Arial"/>
              <a:buChar char="•"/>
            </a:pPr>
            <a:r>
              <a:rPr lang="en-US" sz="3121" b="1">
                <a:solidFill>
                  <a:srgbClr val="46513D"/>
                </a:solidFill>
                <a:latin typeface="DM Sans Bold"/>
                <a:ea typeface="DM Sans Bold"/>
                <a:cs typeface="DM Sans Bold"/>
                <a:sym typeface="DM Sans Bold"/>
              </a:rPr>
              <a:t>Knowledge Creation (Mengembangkan fitur baru dalam sistem perusahaan)</a:t>
            </a:r>
          </a:p>
          <a:p>
            <a:pPr algn="just">
              <a:lnSpc>
                <a:spcPts val="4370"/>
              </a:lnSpc>
            </a:pPr>
            <a:endParaRPr lang="en-US" sz="3121" b="1">
              <a:solidFill>
                <a:srgbClr val="46513D"/>
              </a:solidFill>
              <a:latin typeface="DM Sans Bold"/>
              <a:ea typeface="DM Sans Bold"/>
              <a:cs typeface="DM Sans Bold"/>
              <a:sym typeface="DM Sans Bold"/>
            </a:endParaRPr>
          </a:p>
          <a:p>
            <a:pPr marL="673918" lvl="1" indent="-336959" algn="just">
              <a:lnSpc>
                <a:spcPts val="4370"/>
              </a:lnSpc>
              <a:buFont typeface="Arial"/>
              <a:buChar char="•"/>
            </a:pPr>
            <a:r>
              <a:rPr lang="en-US" sz="3121" b="1">
                <a:solidFill>
                  <a:srgbClr val="46513D"/>
                </a:solidFill>
                <a:latin typeface="DM Sans Bold"/>
                <a:ea typeface="DM Sans Bold"/>
                <a:cs typeface="DM Sans Bold"/>
                <a:sym typeface="DM Sans Bold"/>
              </a:rPr>
              <a:t>Knowledge Storage (Dokumen, artikel, atau laporan kerja yang disimpan dalam database atau repositori perusahaan)</a:t>
            </a:r>
          </a:p>
          <a:p>
            <a:pPr algn="just">
              <a:lnSpc>
                <a:spcPts val="4370"/>
              </a:lnSpc>
            </a:pPr>
            <a:endParaRPr lang="en-US" sz="3121" b="1">
              <a:solidFill>
                <a:srgbClr val="46513D"/>
              </a:solidFill>
              <a:latin typeface="DM Sans Bold"/>
              <a:ea typeface="DM Sans Bold"/>
              <a:cs typeface="DM Sans Bold"/>
              <a:sym typeface="DM Sans Bold"/>
            </a:endParaRPr>
          </a:p>
          <a:p>
            <a:pPr marL="673918" lvl="1" indent="-336959" algn="just">
              <a:lnSpc>
                <a:spcPts val="4370"/>
              </a:lnSpc>
              <a:buFont typeface="Arial"/>
              <a:buChar char="•"/>
            </a:pPr>
            <a:r>
              <a:rPr lang="en-US" sz="3121" b="1">
                <a:solidFill>
                  <a:srgbClr val="46513D"/>
                </a:solidFill>
                <a:latin typeface="DM Sans Bold"/>
                <a:ea typeface="DM Sans Bold"/>
                <a:cs typeface="DM Sans Bold"/>
                <a:sym typeface="DM Sans Bold"/>
              </a:rPr>
              <a:t>Knowledge Sharing (Forum diskusi internal, pelatihan antar karyawan, atau pembagian artikel pengetahuan melalui sistem KMS)</a:t>
            </a:r>
          </a:p>
          <a:p>
            <a:pPr algn="just">
              <a:lnSpc>
                <a:spcPts val="4370"/>
              </a:lnSpc>
            </a:pPr>
            <a:endParaRPr lang="en-US" sz="3121" b="1">
              <a:solidFill>
                <a:srgbClr val="46513D"/>
              </a:solidFill>
              <a:latin typeface="DM Sans Bold"/>
              <a:ea typeface="DM Sans Bold"/>
              <a:cs typeface="DM Sans Bold"/>
              <a:sym typeface="DM Sans Bold"/>
            </a:endParaRPr>
          </a:p>
          <a:p>
            <a:pPr marL="673918" lvl="1" indent="-336959" algn="just">
              <a:lnSpc>
                <a:spcPts val="4370"/>
              </a:lnSpc>
              <a:buFont typeface="Arial"/>
              <a:buChar char="•"/>
            </a:pPr>
            <a:r>
              <a:rPr lang="en-US" sz="3121" b="1">
                <a:solidFill>
                  <a:srgbClr val="46513D"/>
                </a:solidFill>
                <a:latin typeface="DM Sans Bold"/>
                <a:ea typeface="DM Sans Bold"/>
                <a:cs typeface="DM Sans Bold"/>
                <a:sym typeface="DM Sans Bold"/>
              </a:rPr>
              <a:t>Knowledge Application (Karyawan menggunakan panduan kerja atau hasil diskusi untuk menyelesaikan tugas lebih efisien dan akurat.)</a:t>
            </a: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3708720"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1349825" y="3967458"/>
            <a:ext cx="7439715" cy="3357245"/>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Mempermudah akses informasi</a:t>
            </a:r>
          </a:p>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Meningkatkan efisiensi kerja</a:t>
            </a:r>
          </a:p>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Mendukung pengambilan keputusan</a:t>
            </a:r>
          </a:p>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Meminimalisir kehilangan pengetahuan</a:t>
            </a:r>
          </a:p>
        </p:txBody>
      </p:sp>
      <p:sp>
        <p:nvSpPr>
          <p:cNvPr id="17" name="TextBox 17"/>
          <p:cNvSpPr txBox="1"/>
          <p:nvPr/>
        </p:nvSpPr>
        <p:spPr>
          <a:xfrm>
            <a:off x="1185902" y="2533892"/>
            <a:ext cx="15913224" cy="1290691"/>
          </a:xfrm>
          <a:prstGeom prst="rect">
            <a:avLst/>
          </a:prstGeom>
        </p:spPr>
        <p:txBody>
          <a:bodyPr lIns="0" tIns="0" rIns="0" bIns="0" rtlCol="0" anchor="t">
            <a:spAutoFit/>
          </a:bodyPr>
          <a:lstStyle/>
          <a:p>
            <a:pPr algn="ctr">
              <a:lnSpc>
                <a:spcPts val="9523"/>
              </a:lnSpc>
            </a:pPr>
            <a:r>
              <a:rPr lang="en-US" sz="9717">
                <a:solidFill>
                  <a:srgbClr val="46513D"/>
                </a:solidFill>
                <a:latin typeface="Chewy"/>
                <a:ea typeface="Chewy"/>
                <a:cs typeface="Chewy"/>
                <a:sym typeface="Chewy"/>
              </a:rPr>
              <a:t>KELEBIHAN DAN KEKURANGAN</a:t>
            </a:r>
          </a:p>
        </p:txBody>
      </p:sp>
      <p:sp>
        <p:nvSpPr>
          <p:cNvPr id="18" name="TextBox 18"/>
          <p:cNvSpPr txBox="1"/>
          <p:nvPr/>
        </p:nvSpPr>
        <p:spPr>
          <a:xfrm>
            <a:off x="8955997" y="3967458"/>
            <a:ext cx="7833246" cy="2233295"/>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Membutuhkan biaya tinggi</a:t>
            </a:r>
          </a:p>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Ketergantungan pada teknologi</a:t>
            </a:r>
          </a:p>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Resistensi pengguna</a:t>
            </a:r>
          </a:p>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Resiko keamanan data</a:t>
            </a: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4336107"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Freeform 16"/>
          <p:cNvSpPr/>
          <p:nvPr/>
        </p:nvSpPr>
        <p:spPr>
          <a:xfrm>
            <a:off x="10272458" y="3835228"/>
            <a:ext cx="6403835" cy="4472063"/>
          </a:xfrm>
          <a:custGeom>
            <a:avLst/>
            <a:gdLst/>
            <a:ahLst/>
            <a:cxnLst/>
            <a:rect l="l" t="t" r="r" b="b"/>
            <a:pathLst>
              <a:path w="6403835" h="4472063">
                <a:moveTo>
                  <a:pt x="0" y="0"/>
                </a:moveTo>
                <a:lnTo>
                  <a:pt x="6403835" y="0"/>
                </a:lnTo>
                <a:lnTo>
                  <a:pt x="6403835" y="4472062"/>
                </a:lnTo>
                <a:lnTo>
                  <a:pt x="0" y="4472062"/>
                </a:lnTo>
                <a:lnTo>
                  <a:pt x="0" y="0"/>
                </a:lnTo>
                <a:close/>
              </a:path>
            </a:pathLst>
          </a:custGeom>
          <a:blipFill>
            <a:blip r:embed="rId28"/>
            <a:stretch>
              <a:fillRect l="-9098" r="-14607"/>
            </a:stretch>
          </a:blipFill>
        </p:spPr>
      </p:sp>
      <p:sp>
        <p:nvSpPr>
          <p:cNvPr id="17" name="TextBox 17"/>
          <p:cNvSpPr txBox="1"/>
          <p:nvPr/>
        </p:nvSpPr>
        <p:spPr>
          <a:xfrm>
            <a:off x="6384495" y="2781128"/>
            <a:ext cx="5519011" cy="863600"/>
          </a:xfrm>
          <a:prstGeom prst="rect">
            <a:avLst/>
          </a:prstGeom>
        </p:spPr>
        <p:txBody>
          <a:bodyPr lIns="0" tIns="0" rIns="0" bIns="0" rtlCol="0" anchor="t">
            <a:spAutoFit/>
          </a:bodyPr>
          <a:lstStyle/>
          <a:p>
            <a:pPr algn="l">
              <a:lnSpc>
                <a:spcPts val="7000"/>
              </a:lnSpc>
            </a:pPr>
            <a:r>
              <a:rPr lang="en-US" sz="5000" b="1">
                <a:solidFill>
                  <a:srgbClr val="46513D"/>
                </a:solidFill>
                <a:latin typeface="DM Sans Bold"/>
                <a:ea typeface="DM Sans Bold"/>
                <a:cs typeface="DM Sans Bold"/>
                <a:sym typeface="DM Sans Bold"/>
              </a:rPr>
              <a:t>Profil Perusahaan </a:t>
            </a:r>
          </a:p>
        </p:txBody>
      </p:sp>
      <p:sp>
        <p:nvSpPr>
          <p:cNvPr id="18" name="TextBox 18"/>
          <p:cNvSpPr txBox="1"/>
          <p:nvPr/>
        </p:nvSpPr>
        <p:spPr>
          <a:xfrm>
            <a:off x="1970989" y="2000393"/>
            <a:ext cx="14346021" cy="885510"/>
          </a:xfrm>
          <a:prstGeom prst="rect">
            <a:avLst/>
          </a:prstGeom>
        </p:spPr>
        <p:txBody>
          <a:bodyPr lIns="0" tIns="0" rIns="0" bIns="0" rtlCol="0" anchor="t">
            <a:spAutoFit/>
          </a:bodyPr>
          <a:lstStyle/>
          <a:p>
            <a:pPr algn="ctr">
              <a:lnSpc>
                <a:spcPts val="6490"/>
              </a:lnSpc>
            </a:pPr>
            <a:r>
              <a:rPr lang="en-US" sz="6622">
                <a:solidFill>
                  <a:srgbClr val="46513D"/>
                </a:solidFill>
                <a:latin typeface="Chewy"/>
                <a:ea typeface="Chewy"/>
                <a:cs typeface="Chewy"/>
                <a:sym typeface="Chewy"/>
              </a:rPr>
              <a:t>STUDI KASUS: PT ASIA PACIFIC FIBERS (APF)</a:t>
            </a:r>
          </a:p>
        </p:txBody>
      </p:sp>
      <p:sp>
        <p:nvSpPr>
          <p:cNvPr id="19" name="TextBox 19"/>
          <p:cNvSpPr txBox="1"/>
          <p:nvPr/>
        </p:nvSpPr>
        <p:spPr>
          <a:xfrm>
            <a:off x="2081963" y="3787603"/>
            <a:ext cx="8015754" cy="4163914"/>
          </a:xfrm>
          <a:prstGeom prst="rect">
            <a:avLst/>
          </a:prstGeom>
        </p:spPr>
        <p:txBody>
          <a:bodyPr lIns="0" tIns="0" rIns="0" bIns="0" rtlCol="0" anchor="t">
            <a:spAutoFit/>
          </a:bodyPr>
          <a:lstStyle/>
          <a:p>
            <a:pPr algn="just">
              <a:lnSpc>
                <a:spcPts val="3713"/>
              </a:lnSpc>
            </a:pPr>
            <a:r>
              <a:rPr lang="en-US" sz="2652" b="1">
                <a:solidFill>
                  <a:srgbClr val="46513D"/>
                </a:solidFill>
                <a:latin typeface="DM Sans Bold"/>
                <a:ea typeface="DM Sans Bold"/>
                <a:cs typeface="DM Sans Bold"/>
                <a:sym typeface="DM Sans Bold"/>
              </a:rPr>
              <a:t>PT Asia Pacific Fibers (APF) merupakan perusahaan tekstil berskala internasional yang terletak di Kendal, Jawa Tengah, dan perusahaan ini memproduksi benang polyester dari bahan mentah hingga produk jadi.</a:t>
            </a:r>
          </a:p>
          <a:p>
            <a:pPr algn="just">
              <a:lnSpc>
                <a:spcPts val="3713"/>
              </a:lnSpc>
            </a:pPr>
            <a:r>
              <a:rPr lang="en-US" sz="2652" b="1">
                <a:solidFill>
                  <a:srgbClr val="46513D"/>
                </a:solidFill>
                <a:latin typeface="DM Sans Bold"/>
                <a:ea typeface="DM Sans Bold"/>
                <a:cs typeface="DM Sans Bold"/>
                <a:sym typeface="DM Sans Bold"/>
              </a:rPr>
              <a:t>Perusahaan ini memiliki berbagai divisi dan tenaga kerja yang banyak, sehingga distribusi pengetahuan di antara karyawan menjadi tantangan yang signifikan.</a:t>
            </a: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4336107"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1240767" y="2061218"/>
            <a:ext cx="20769533" cy="1000125"/>
          </a:xfrm>
          <a:prstGeom prst="rect">
            <a:avLst/>
          </a:prstGeom>
        </p:spPr>
        <p:txBody>
          <a:bodyPr lIns="0" tIns="0" rIns="0" bIns="0" rtlCol="0" anchor="t">
            <a:spAutoFit/>
          </a:bodyPr>
          <a:lstStyle/>
          <a:p>
            <a:pPr algn="ctr">
              <a:lnSpc>
                <a:spcPts val="7350"/>
              </a:lnSpc>
            </a:pPr>
            <a:r>
              <a:rPr lang="en-US" sz="7500">
                <a:solidFill>
                  <a:srgbClr val="46513D"/>
                </a:solidFill>
                <a:latin typeface="Chewy"/>
                <a:ea typeface="Chewy"/>
                <a:cs typeface="Chewy"/>
                <a:sym typeface="Chewy"/>
              </a:rPr>
              <a:t>PERMASALAHAN UTAMA</a:t>
            </a:r>
          </a:p>
        </p:txBody>
      </p:sp>
      <p:sp>
        <p:nvSpPr>
          <p:cNvPr id="17" name="TextBox 17"/>
          <p:cNvSpPr txBox="1"/>
          <p:nvPr/>
        </p:nvSpPr>
        <p:spPr>
          <a:xfrm>
            <a:off x="2178462" y="3435145"/>
            <a:ext cx="13931076" cy="4645165"/>
          </a:xfrm>
          <a:prstGeom prst="rect">
            <a:avLst/>
          </a:prstGeom>
        </p:spPr>
        <p:txBody>
          <a:bodyPr lIns="0" tIns="0" rIns="0" bIns="0" rtlCol="0" anchor="t">
            <a:spAutoFit/>
          </a:bodyPr>
          <a:lstStyle/>
          <a:p>
            <a:pPr algn="just">
              <a:lnSpc>
                <a:spcPts val="4130"/>
              </a:lnSpc>
            </a:pPr>
            <a:r>
              <a:rPr lang="en-US" sz="2950" b="1">
                <a:solidFill>
                  <a:srgbClr val="46513D"/>
                </a:solidFill>
                <a:latin typeface="DM Sans Bold"/>
                <a:ea typeface="DM Sans Bold"/>
                <a:cs typeface="DM Sans Bold"/>
                <a:sym typeface="DM Sans Bold"/>
              </a:rPr>
              <a:t>1. Pengetahuan belum terdokumentasi dengan baik</a:t>
            </a:r>
          </a:p>
          <a:p>
            <a:pPr algn="just">
              <a:lnSpc>
                <a:spcPts val="4130"/>
              </a:lnSpc>
            </a:pPr>
            <a:r>
              <a:rPr lang="en-US" sz="2950" b="1">
                <a:solidFill>
                  <a:srgbClr val="46513D"/>
                </a:solidFill>
                <a:latin typeface="DM Sans Bold"/>
                <a:ea typeface="DM Sans Bold"/>
                <a:cs typeface="DM Sans Bold"/>
                <a:sym typeface="DM Sans Bold"/>
              </a:rPr>
              <a:t>Banyak karyawan belum memiliki akses yang sama terhadap informasi penting perusahaan. Informasi dan prosedur kerja masih disampaikan secara manual (melalui papan pengumuman atau secara lisan).</a:t>
            </a:r>
          </a:p>
          <a:p>
            <a:pPr algn="just">
              <a:lnSpc>
                <a:spcPts val="4130"/>
              </a:lnSpc>
            </a:pPr>
            <a:endParaRPr lang="en-US" sz="2950" b="1">
              <a:solidFill>
                <a:srgbClr val="46513D"/>
              </a:solidFill>
              <a:latin typeface="DM Sans Bold"/>
              <a:ea typeface="DM Sans Bold"/>
              <a:cs typeface="DM Sans Bold"/>
              <a:sym typeface="DM Sans Bold"/>
            </a:endParaRPr>
          </a:p>
          <a:p>
            <a:pPr algn="just">
              <a:lnSpc>
                <a:spcPts val="4130"/>
              </a:lnSpc>
            </a:pPr>
            <a:r>
              <a:rPr lang="en-US" sz="2950" b="1">
                <a:solidFill>
                  <a:srgbClr val="46513D"/>
                </a:solidFill>
                <a:latin typeface="DM Sans Bold"/>
                <a:ea typeface="DM Sans Bold"/>
                <a:cs typeface="DM Sans Bold"/>
                <a:sym typeface="DM Sans Bold"/>
              </a:rPr>
              <a:t>2. Kesalahan kerja sering terulang</a:t>
            </a:r>
          </a:p>
          <a:p>
            <a:pPr algn="just">
              <a:lnSpc>
                <a:spcPts val="4130"/>
              </a:lnSpc>
            </a:pPr>
            <a:r>
              <a:rPr lang="en-US" sz="2950" b="1">
                <a:solidFill>
                  <a:srgbClr val="46513D"/>
                </a:solidFill>
                <a:latin typeface="DM Sans Bold"/>
                <a:ea typeface="DM Sans Bold"/>
                <a:cs typeface="DM Sans Bold"/>
                <a:sym typeface="DM Sans Bold"/>
              </a:rPr>
              <a:t>Pengetahuan dari pengalaman kerja tidak terdokumentasi, sehingga sulit menjadi referensi. Dan kesalahan yang sama sering terjadi di antara bagian-bagian.</a:t>
            </a: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4336107"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1240767" y="2061218"/>
            <a:ext cx="20769533" cy="1000125"/>
          </a:xfrm>
          <a:prstGeom prst="rect">
            <a:avLst/>
          </a:prstGeom>
        </p:spPr>
        <p:txBody>
          <a:bodyPr lIns="0" tIns="0" rIns="0" bIns="0" rtlCol="0" anchor="t">
            <a:spAutoFit/>
          </a:bodyPr>
          <a:lstStyle/>
          <a:p>
            <a:pPr algn="ctr">
              <a:lnSpc>
                <a:spcPts val="7350"/>
              </a:lnSpc>
            </a:pPr>
            <a:r>
              <a:rPr lang="en-US" sz="7500">
                <a:solidFill>
                  <a:srgbClr val="46513D"/>
                </a:solidFill>
                <a:latin typeface="Chewy"/>
                <a:ea typeface="Chewy"/>
                <a:cs typeface="Chewy"/>
                <a:sym typeface="Chewy"/>
              </a:rPr>
              <a:t>PERMASALAHAN UTAMA</a:t>
            </a:r>
          </a:p>
        </p:txBody>
      </p:sp>
      <p:sp>
        <p:nvSpPr>
          <p:cNvPr id="17" name="TextBox 17"/>
          <p:cNvSpPr txBox="1"/>
          <p:nvPr/>
        </p:nvSpPr>
        <p:spPr>
          <a:xfrm>
            <a:off x="2178462" y="3435145"/>
            <a:ext cx="13931076" cy="4645165"/>
          </a:xfrm>
          <a:prstGeom prst="rect">
            <a:avLst/>
          </a:prstGeom>
        </p:spPr>
        <p:txBody>
          <a:bodyPr lIns="0" tIns="0" rIns="0" bIns="0" rtlCol="0" anchor="t">
            <a:spAutoFit/>
          </a:bodyPr>
          <a:lstStyle/>
          <a:p>
            <a:pPr algn="just">
              <a:lnSpc>
                <a:spcPts val="4130"/>
              </a:lnSpc>
            </a:pPr>
            <a:r>
              <a:rPr lang="en-US" sz="2950" b="1">
                <a:solidFill>
                  <a:srgbClr val="46513D"/>
                </a:solidFill>
                <a:latin typeface="DM Sans Bold"/>
                <a:ea typeface="DM Sans Bold"/>
                <a:cs typeface="DM Sans Bold"/>
                <a:sym typeface="DM Sans Bold"/>
              </a:rPr>
              <a:t>3. Lambat dalam penanganan konflik atau masalah operasional</a:t>
            </a:r>
          </a:p>
          <a:p>
            <a:pPr algn="just">
              <a:lnSpc>
                <a:spcPts val="4130"/>
              </a:lnSpc>
            </a:pPr>
            <a:r>
              <a:rPr lang="en-US" sz="2950" b="1">
                <a:solidFill>
                  <a:srgbClr val="46513D"/>
                </a:solidFill>
                <a:latin typeface="DM Sans Bold"/>
                <a:ea typeface="DM Sans Bold"/>
                <a:cs typeface="DM Sans Bold"/>
                <a:sym typeface="DM Sans Bold"/>
              </a:rPr>
              <a:t>Kurangnya sarana komunikasi dan berbagi pengetahuan antar karyawan membuat proses penyelesaian masalah memakan waktu lama.</a:t>
            </a:r>
          </a:p>
          <a:p>
            <a:pPr algn="just">
              <a:lnSpc>
                <a:spcPts val="4130"/>
              </a:lnSpc>
            </a:pPr>
            <a:endParaRPr lang="en-US" sz="2950" b="1">
              <a:solidFill>
                <a:srgbClr val="46513D"/>
              </a:solidFill>
              <a:latin typeface="DM Sans Bold"/>
              <a:ea typeface="DM Sans Bold"/>
              <a:cs typeface="DM Sans Bold"/>
              <a:sym typeface="DM Sans Bold"/>
            </a:endParaRPr>
          </a:p>
          <a:p>
            <a:pPr algn="just">
              <a:lnSpc>
                <a:spcPts val="4130"/>
              </a:lnSpc>
            </a:pPr>
            <a:r>
              <a:rPr lang="en-US" sz="2950" b="1">
                <a:solidFill>
                  <a:srgbClr val="46513D"/>
                </a:solidFill>
                <a:latin typeface="DM Sans Bold"/>
                <a:ea typeface="DM Sans Bold"/>
                <a:cs typeface="DM Sans Bold"/>
                <a:sym typeface="DM Sans Bold"/>
              </a:rPr>
              <a:t>4. Ketergantungan pada karyawan senior</a:t>
            </a:r>
          </a:p>
          <a:p>
            <a:pPr algn="just">
              <a:lnSpc>
                <a:spcPts val="4130"/>
              </a:lnSpc>
            </a:pPr>
            <a:r>
              <a:rPr lang="en-US" sz="2950" b="1">
                <a:solidFill>
                  <a:srgbClr val="46513D"/>
                </a:solidFill>
                <a:latin typeface="DM Sans Bold"/>
                <a:ea typeface="DM Sans Bold"/>
                <a:cs typeface="DM Sans Bold"/>
                <a:sym typeface="DM Sans Bold"/>
              </a:rPr>
              <a:t>Ketika karyawan berpengalaman meninggalkan perusahaan, pengetahuan yang dimiliki juga hilang karena tidak didokumentasikan atau disimpan didalam sistem.</a:t>
            </a:r>
          </a:p>
          <a:p>
            <a:pPr algn="just">
              <a:lnSpc>
                <a:spcPts val="4130"/>
              </a:lnSpc>
            </a:pPr>
            <a:endParaRPr lang="en-US" sz="2950" b="1">
              <a:solidFill>
                <a:srgbClr val="46513D"/>
              </a:solidFill>
              <a:latin typeface="DM Sans Bold"/>
              <a:ea typeface="DM Sans Bold"/>
              <a:cs typeface="DM Sans Bold"/>
              <a:sym typeface="DM Sans Bold"/>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4336107"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5464739" y="3340395"/>
            <a:ext cx="7358522" cy="863600"/>
          </a:xfrm>
          <a:prstGeom prst="rect">
            <a:avLst/>
          </a:prstGeom>
        </p:spPr>
        <p:txBody>
          <a:bodyPr lIns="0" tIns="0" rIns="0" bIns="0" rtlCol="0" anchor="t">
            <a:spAutoFit/>
          </a:bodyPr>
          <a:lstStyle/>
          <a:p>
            <a:pPr algn="l">
              <a:lnSpc>
                <a:spcPts val="7000"/>
              </a:lnSpc>
            </a:pPr>
            <a:r>
              <a:rPr lang="en-US" sz="5000" b="1">
                <a:solidFill>
                  <a:srgbClr val="46513D"/>
                </a:solidFill>
                <a:latin typeface="DM Sans Bold"/>
                <a:ea typeface="DM Sans Bold"/>
                <a:cs typeface="DM Sans Bold"/>
                <a:sym typeface="DM Sans Bold"/>
              </a:rPr>
              <a:t>Solusi yang Diterapkan</a:t>
            </a:r>
          </a:p>
        </p:txBody>
      </p:sp>
      <p:sp>
        <p:nvSpPr>
          <p:cNvPr id="17" name="TextBox 17"/>
          <p:cNvSpPr txBox="1"/>
          <p:nvPr/>
        </p:nvSpPr>
        <p:spPr>
          <a:xfrm>
            <a:off x="-1240767" y="2262860"/>
            <a:ext cx="20769533" cy="1000125"/>
          </a:xfrm>
          <a:prstGeom prst="rect">
            <a:avLst/>
          </a:prstGeom>
        </p:spPr>
        <p:txBody>
          <a:bodyPr lIns="0" tIns="0" rIns="0" bIns="0" rtlCol="0" anchor="t">
            <a:spAutoFit/>
          </a:bodyPr>
          <a:lstStyle/>
          <a:p>
            <a:pPr algn="ctr">
              <a:lnSpc>
                <a:spcPts val="7350"/>
              </a:lnSpc>
            </a:pPr>
            <a:r>
              <a:rPr lang="en-US" sz="7500">
                <a:solidFill>
                  <a:srgbClr val="46513D"/>
                </a:solidFill>
                <a:latin typeface="Chewy"/>
                <a:ea typeface="Chewy"/>
                <a:cs typeface="Chewy"/>
                <a:sym typeface="Chewy"/>
              </a:rPr>
              <a:t>STUDI KASUS: PT ASIA PACIFIC FIBERS (APF)</a:t>
            </a:r>
          </a:p>
        </p:txBody>
      </p:sp>
      <p:sp>
        <p:nvSpPr>
          <p:cNvPr id="18" name="TextBox 18"/>
          <p:cNvSpPr txBox="1"/>
          <p:nvPr/>
        </p:nvSpPr>
        <p:spPr>
          <a:xfrm>
            <a:off x="1588671" y="4318295"/>
            <a:ext cx="15110659" cy="3357245"/>
          </a:xfrm>
          <a:prstGeom prst="rect">
            <a:avLst/>
          </a:prstGeom>
        </p:spPr>
        <p:txBody>
          <a:bodyPr lIns="0" tIns="0" rIns="0" bIns="0" rtlCol="0" anchor="t">
            <a:spAutoFit/>
          </a:bodyPr>
          <a:lstStyle/>
          <a:p>
            <a:pPr marL="690881" lvl="1" indent="-345440" algn="just">
              <a:lnSpc>
                <a:spcPts val="4480"/>
              </a:lnSpc>
              <a:buFont typeface="Arial"/>
              <a:buChar char="•"/>
            </a:pPr>
            <a:r>
              <a:rPr lang="en-US" sz="3200" b="1">
                <a:solidFill>
                  <a:srgbClr val="46513D"/>
                </a:solidFill>
                <a:latin typeface="DM Sans Bold"/>
                <a:ea typeface="DM Sans Bold"/>
                <a:cs typeface="DM Sans Bold"/>
                <a:sym typeface="DM Sans Bold"/>
              </a:rPr>
              <a:t>Membangun Knowledge Management System berbasis web menggunakan PHP dan Database Management System (DBMS).</a:t>
            </a:r>
          </a:p>
          <a:p>
            <a:pPr marL="690881" lvl="1" indent="-345440" algn="just">
              <a:lnSpc>
                <a:spcPts val="4480"/>
              </a:lnSpc>
              <a:buFont typeface="Arial"/>
              <a:buChar char="•"/>
            </a:pPr>
            <a:r>
              <a:rPr lang="en-US" sz="3200" b="1">
                <a:solidFill>
                  <a:srgbClr val="46513D"/>
                </a:solidFill>
                <a:latin typeface="DM Sans Bold"/>
                <a:ea typeface="DM Sans Bold"/>
                <a:cs typeface="DM Sans Bold"/>
                <a:sym typeface="DM Sans Bold"/>
              </a:rPr>
              <a:t>Menerapkan metode SECI (Socialization, Externalization, Combination dan Internalization)</a:t>
            </a:r>
          </a:p>
          <a:p>
            <a:pPr marL="690881" lvl="1" indent="-345440" algn="just">
              <a:lnSpc>
                <a:spcPts val="4480"/>
              </a:lnSpc>
              <a:buFont typeface="Arial"/>
              <a:buChar char="•"/>
            </a:pPr>
            <a:r>
              <a:rPr lang="en-US" sz="3200" b="1">
                <a:solidFill>
                  <a:srgbClr val="46513D"/>
                </a:solidFill>
                <a:latin typeface="DM Sans Bold"/>
                <a:ea typeface="DM Sans Bold"/>
                <a:cs typeface="DM Sans Bold"/>
                <a:sym typeface="DM Sans Bold"/>
              </a:rPr>
              <a:t>Menerapkan pendekatan Research and Development (R&amp;D)</a:t>
            </a:r>
          </a:p>
          <a:p>
            <a:pPr marL="690881" lvl="1" indent="-345440" algn="just">
              <a:lnSpc>
                <a:spcPts val="4480"/>
              </a:lnSpc>
              <a:buFont typeface="Arial"/>
              <a:buChar char="•"/>
            </a:pPr>
            <a:r>
              <a:rPr lang="en-US" sz="3200" b="1">
                <a:solidFill>
                  <a:srgbClr val="46513D"/>
                </a:solidFill>
                <a:latin typeface="DM Sans Bold"/>
                <a:ea typeface="DM Sans Bold"/>
                <a:cs typeface="DM Sans Bold"/>
                <a:sym typeface="DM Sans Bold"/>
              </a:rPr>
              <a:t>Menyediakan fitur-fitur pendukung</a:t>
            </a: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4336107"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073455"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5464739" y="3340395"/>
            <a:ext cx="7358522" cy="863600"/>
          </a:xfrm>
          <a:prstGeom prst="rect">
            <a:avLst/>
          </a:prstGeom>
        </p:spPr>
        <p:txBody>
          <a:bodyPr lIns="0" tIns="0" rIns="0" bIns="0" rtlCol="0" anchor="t">
            <a:spAutoFit/>
          </a:bodyPr>
          <a:lstStyle/>
          <a:p>
            <a:pPr algn="l">
              <a:lnSpc>
                <a:spcPts val="7000"/>
              </a:lnSpc>
            </a:pPr>
            <a:r>
              <a:rPr lang="en-US" sz="5000" b="1">
                <a:solidFill>
                  <a:srgbClr val="46513D"/>
                </a:solidFill>
                <a:latin typeface="DM Sans Bold"/>
                <a:ea typeface="DM Sans Bold"/>
                <a:cs typeface="DM Sans Bold"/>
                <a:sym typeface="DM Sans Bold"/>
              </a:rPr>
              <a:t>Hasil Implementasi KMS</a:t>
            </a:r>
          </a:p>
        </p:txBody>
      </p:sp>
      <p:sp>
        <p:nvSpPr>
          <p:cNvPr id="17" name="TextBox 17"/>
          <p:cNvSpPr txBox="1"/>
          <p:nvPr/>
        </p:nvSpPr>
        <p:spPr>
          <a:xfrm>
            <a:off x="-1240767" y="2262860"/>
            <a:ext cx="20769533" cy="1000125"/>
          </a:xfrm>
          <a:prstGeom prst="rect">
            <a:avLst/>
          </a:prstGeom>
        </p:spPr>
        <p:txBody>
          <a:bodyPr lIns="0" tIns="0" rIns="0" bIns="0" rtlCol="0" anchor="t">
            <a:spAutoFit/>
          </a:bodyPr>
          <a:lstStyle/>
          <a:p>
            <a:pPr algn="ctr">
              <a:lnSpc>
                <a:spcPts val="7350"/>
              </a:lnSpc>
            </a:pPr>
            <a:r>
              <a:rPr lang="en-US" sz="7500">
                <a:solidFill>
                  <a:srgbClr val="46513D"/>
                </a:solidFill>
                <a:latin typeface="Chewy"/>
                <a:ea typeface="Chewy"/>
                <a:cs typeface="Chewy"/>
                <a:sym typeface="Chewy"/>
              </a:rPr>
              <a:t>STUDI KASUS: PT ASIA PACIFIC FIBERS (APF)</a:t>
            </a:r>
          </a:p>
        </p:txBody>
      </p:sp>
      <p:sp>
        <p:nvSpPr>
          <p:cNvPr id="18" name="TextBox 18"/>
          <p:cNvSpPr txBox="1"/>
          <p:nvPr/>
        </p:nvSpPr>
        <p:spPr>
          <a:xfrm>
            <a:off x="2374776" y="4318295"/>
            <a:ext cx="13566300" cy="2858411"/>
          </a:xfrm>
          <a:prstGeom prst="rect">
            <a:avLst/>
          </a:prstGeom>
        </p:spPr>
        <p:txBody>
          <a:bodyPr lIns="0" tIns="0" rIns="0" bIns="0" rtlCol="0" anchor="t">
            <a:spAutoFit/>
          </a:bodyPr>
          <a:lstStyle/>
          <a:p>
            <a:pPr marL="690881" lvl="1" indent="-345440" algn="just">
              <a:lnSpc>
                <a:spcPts val="4480"/>
              </a:lnSpc>
              <a:buFont typeface="Arial"/>
              <a:buChar char="•"/>
            </a:pPr>
            <a:r>
              <a:rPr lang="en-US" sz="3200" b="1" dirty="0" err="1">
                <a:solidFill>
                  <a:srgbClr val="46513D"/>
                </a:solidFill>
                <a:latin typeface="DM Sans Bold"/>
                <a:ea typeface="DM Sans Bold"/>
                <a:cs typeface="DM Sans Bold"/>
                <a:sym typeface="DM Sans Bold"/>
              </a:rPr>
              <a:t>Penyimpanan</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pengetahuan</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lebih</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terstruktur</a:t>
            </a:r>
            <a:r>
              <a:rPr lang="en-US" sz="3200" b="1" dirty="0">
                <a:solidFill>
                  <a:srgbClr val="46513D"/>
                </a:solidFill>
                <a:latin typeface="DM Sans Bold"/>
                <a:ea typeface="DM Sans Bold"/>
                <a:cs typeface="DM Sans Bold"/>
                <a:sym typeface="DM Sans Bold"/>
              </a:rPr>
              <a:t> dan </a:t>
            </a:r>
            <a:r>
              <a:rPr lang="en-US" sz="3200" b="1" dirty="0" err="1">
                <a:solidFill>
                  <a:srgbClr val="46513D"/>
                </a:solidFill>
                <a:latin typeface="DM Sans Bold"/>
                <a:ea typeface="DM Sans Bold"/>
                <a:cs typeface="DM Sans Bold"/>
                <a:sym typeface="DM Sans Bold"/>
              </a:rPr>
              <a:t>mudah</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diakses</a:t>
            </a:r>
            <a:endParaRPr lang="en-US" sz="3200" b="1" dirty="0">
              <a:solidFill>
                <a:srgbClr val="46513D"/>
              </a:solidFill>
              <a:latin typeface="DM Sans Bold"/>
              <a:ea typeface="DM Sans Bold"/>
              <a:cs typeface="DM Sans Bold"/>
              <a:sym typeface="DM Sans Bold"/>
            </a:endParaRPr>
          </a:p>
          <a:p>
            <a:pPr marL="690881" lvl="1" indent="-345440" algn="just">
              <a:lnSpc>
                <a:spcPts val="4480"/>
              </a:lnSpc>
              <a:buFont typeface="Arial"/>
              <a:buChar char="•"/>
            </a:pPr>
            <a:r>
              <a:rPr lang="en-US" sz="3200" b="1" dirty="0" err="1">
                <a:solidFill>
                  <a:srgbClr val="46513D"/>
                </a:solidFill>
                <a:latin typeface="DM Sans Bold"/>
                <a:ea typeface="DM Sans Bold"/>
                <a:cs typeface="DM Sans Bold"/>
                <a:sym typeface="DM Sans Bold"/>
              </a:rPr>
              <a:t>Meningkatkan</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pemerataan</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pengetahuan</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antar</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karyawan</a:t>
            </a:r>
            <a:endParaRPr lang="en-US" sz="3200" b="1" dirty="0">
              <a:solidFill>
                <a:srgbClr val="46513D"/>
              </a:solidFill>
              <a:latin typeface="DM Sans Bold"/>
              <a:ea typeface="DM Sans Bold"/>
              <a:cs typeface="DM Sans Bold"/>
              <a:sym typeface="DM Sans Bold"/>
            </a:endParaRPr>
          </a:p>
          <a:p>
            <a:pPr marL="690881" lvl="1" indent="-345440" algn="just">
              <a:lnSpc>
                <a:spcPts val="4480"/>
              </a:lnSpc>
              <a:buFont typeface="Arial"/>
              <a:buChar char="•"/>
            </a:pPr>
            <a:r>
              <a:rPr lang="en-US" sz="3200" b="1" dirty="0" err="1">
                <a:solidFill>
                  <a:srgbClr val="46513D"/>
                </a:solidFill>
                <a:latin typeface="DM Sans Bold"/>
                <a:ea typeface="DM Sans Bold"/>
                <a:cs typeface="DM Sans Bold"/>
                <a:sym typeface="DM Sans Bold"/>
              </a:rPr>
              <a:t>Mengurangi</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kesalahan</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kerja</a:t>
            </a:r>
            <a:r>
              <a:rPr lang="en-US" sz="3200" b="1" dirty="0">
                <a:solidFill>
                  <a:srgbClr val="46513D"/>
                </a:solidFill>
                <a:latin typeface="DM Sans Bold"/>
                <a:ea typeface="DM Sans Bold"/>
                <a:cs typeface="DM Sans Bold"/>
                <a:sym typeface="DM Sans Bold"/>
              </a:rPr>
              <a:t> dan </a:t>
            </a:r>
            <a:r>
              <a:rPr lang="en-US" sz="3200" b="1" dirty="0" err="1">
                <a:solidFill>
                  <a:srgbClr val="46513D"/>
                </a:solidFill>
                <a:latin typeface="DM Sans Bold"/>
                <a:ea typeface="DM Sans Bold"/>
                <a:cs typeface="DM Sans Bold"/>
                <a:sym typeface="DM Sans Bold"/>
              </a:rPr>
              <a:t>konflik</a:t>
            </a:r>
            <a:r>
              <a:rPr lang="en-US" sz="3200" b="1" dirty="0">
                <a:solidFill>
                  <a:srgbClr val="46513D"/>
                </a:solidFill>
                <a:latin typeface="DM Sans Bold"/>
                <a:ea typeface="DM Sans Bold"/>
                <a:cs typeface="DM Sans Bold"/>
                <a:sym typeface="DM Sans Bold"/>
              </a:rPr>
              <a:t> internal</a:t>
            </a:r>
          </a:p>
          <a:p>
            <a:pPr marL="690881" lvl="1" indent="-345440" algn="just">
              <a:lnSpc>
                <a:spcPts val="4480"/>
              </a:lnSpc>
              <a:buFont typeface="Arial"/>
              <a:buChar char="•"/>
            </a:pPr>
            <a:r>
              <a:rPr lang="en-US" sz="3200" b="1">
                <a:solidFill>
                  <a:srgbClr val="46513D"/>
                </a:solidFill>
                <a:latin typeface="DM Sans Bold"/>
                <a:ea typeface="DM Sans Bold"/>
                <a:cs typeface="DM Sans Bold"/>
                <a:sym typeface="DM Sans Bold"/>
              </a:rPr>
              <a:t>Mendukung</a:t>
            </a:r>
            <a:r>
              <a:rPr lang="en-US" sz="3200" b="1" dirty="0">
                <a:solidFill>
                  <a:srgbClr val="46513D"/>
                </a:solidFill>
                <a:latin typeface="DM Sans Bold"/>
                <a:ea typeface="DM Sans Bold"/>
                <a:cs typeface="DM Sans Bold"/>
                <a:sym typeface="DM Sans Bold"/>
              </a:rPr>
              <a:t> proses </a:t>
            </a:r>
            <a:r>
              <a:rPr lang="en-US" sz="3200" b="1" dirty="0" err="1">
                <a:solidFill>
                  <a:srgbClr val="46513D"/>
                </a:solidFill>
                <a:latin typeface="DM Sans Bold"/>
                <a:ea typeface="DM Sans Bold"/>
                <a:cs typeface="DM Sans Bold"/>
                <a:sym typeface="DM Sans Bold"/>
              </a:rPr>
              <a:t>pembelajaran</a:t>
            </a:r>
            <a:r>
              <a:rPr lang="en-US" sz="3200" b="1" dirty="0">
                <a:solidFill>
                  <a:srgbClr val="46513D"/>
                </a:solidFill>
                <a:latin typeface="DM Sans Bold"/>
                <a:ea typeface="DM Sans Bold"/>
                <a:cs typeface="DM Sans Bold"/>
                <a:sym typeface="DM Sans Bold"/>
              </a:rPr>
              <a:t> dan </a:t>
            </a:r>
            <a:r>
              <a:rPr lang="en-US" sz="3200" b="1" dirty="0" err="1">
                <a:solidFill>
                  <a:srgbClr val="46513D"/>
                </a:solidFill>
                <a:latin typeface="DM Sans Bold"/>
                <a:ea typeface="DM Sans Bold"/>
                <a:cs typeface="DM Sans Bold"/>
                <a:sym typeface="DM Sans Bold"/>
              </a:rPr>
              <a:t>pelatihan</a:t>
            </a:r>
            <a:r>
              <a:rPr lang="en-US" sz="3200" b="1" dirty="0">
                <a:solidFill>
                  <a:srgbClr val="46513D"/>
                </a:solidFill>
                <a:latin typeface="DM Sans Bold"/>
                <a:ea typeface="DM Sans Bold"/>
                <a:cs typeface="DM Sans Bold"/>
                <a:sym typeface="DM Sans Bold"/>
              </a:rPr>
              <a:t> SDM</a:t>
            </a:r>
          </a:p>
          <a:p>
            <a:pPr marL="690881" lvl="1" indent="-345440" algn="just">
              <a:lnSpc>
                <a:spcPts val="4480"/>
              </a:lnSpc>
              <a:buFont typeface="Arial"/>
              <a:buChar char="•"/>
            </a:pPr>
            <a:r>
              <a:rPr lang="en-US" sz="3200" b="1" dirty="0" err="1">
                <a:solidFill>
                  <a:srgbClr val="46513D"/>
                </a:solidFill>
                <a:latin typeface="DM Sans Bold"/>
                <a:ea typeface="DM Sans Bold"/>
                <a:cs typeface="DM Sans Bold"/>
                <a:sym typeface="DM Sans Bold"/>
              </a:rPr>
              <a:t>Menjadikan</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pengetahuan</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sebagai</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aset</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penting</a:t>
            </a:r>
            <a:r>
              <a:rPr lang="en-US" sz="3200" b="1" dirty="0">
                <a:solidFill>
                  <a:srgbClr val="46513D"/>
                </a:solidFill>
                <a:latin typeface="DM Sans Bold"/>
                <a:ea typeface="DM Sans Bold"/>
                <a:cs typeface="DM Sans Bold"/>
                <a:sym typeface="DM Sans Bold"/>
              </a:rPr>
              <a:t> </a:t>
            </a:r>
            <a:r>
              <a:rPr lang="en-US" sz="3200" b="1" dirty="0" err="1">
                <a:solidFill>
                  <a:srgbClr val="46513D"/>
                </a:solidFill>
                <a:latin typeface="DM Sans Bold"/>
                <a:ea typeface="DM Sans Bold"/>
                <a:cs typeface="DM Sans Bold"/>
                <a:sym typeface="DM Sans Bold"/>
              </a:rPr>
              <a:t>organisasi</a:t>
            </a:r>
            <a:endParaRPr lang="en-US" sz="3200" b="1" dirty="0">
              <a:solidFill>
                <a:srgbClr val="46513D"/>
              </a:solidFill>
              <a:latin typeface="DM Sans Bold"/>
              <a:ea typeface="DM Sans Bold"/>
              <a:cs typeface="DM Sans Bold"/>
              <a:sym typeface="DM Sans Bold"/>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3708720"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558811"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4477850" y="2317169"/>
            <a:ext cx="9332300" cy="1686742"/>
          </a:xfrm>
          <a:prstGeom prst="rect">
            <a:avLst/>
          </a:prstGeom>
        </p:spPr>
        <p:txBody>
          <a:bodyPr lIns="0" tIns="0" rIns="0" bIns="0" rtlCol="0" anchor="t">
            <a:spAutoFit/>
          </a:bodyPr>
          <a:lstStyle/>
          <a:p>
            <a:pPr algn="ctr">
              <a:lnSpc>
                <a:spcPts val="13604"/>
              </a:lnSpc>
            </a:pPr>
            <a:r>
              <a:rPr lang="en-US" sz="9717">
                <a:solidFill>
                  <a:srgbClr val="46513D"/>
                </a:solidFill>
                <a:latin typeface="Chewy"/>
                <a:ea typeface="Chewy"/>
                <a:cs typeface="Chewy"/>
                <a:sym typeface="Chewy"/>
              </a:rPr>
              <a:t>KESIMPULAN</a:t>
            </a:r>
          </a:p>
        </p:txBody>
      </p:sp>
      <p:sp>
        <p:nvSpPr>
          <p:cNvPr id="17" name="TextBox 17"/>
          <p:cNvSpPr txBox="1"/>
          <p:nvPr/>
        </p:nvSpPr>
        <p:spPr>
          <a:xfrm>
            <a:off x="1295961" y="4074343"/>
            <a:ext cx="15696078" cy="2795270"/>
          </a:xfrm>
          <a:prstGeom prst="rect">
            <a:avLst/>
          </a:prstGeom>
        </p:spPr>
        <p:txBody>
          <a:bodyPr lIns="0" tIns="0" rIns="0" bIns="0" rtlCol="0" anchor="t">
            <a:spAutoFit/>
          </a:bodyPr>
          <a:lstStyle/>
          <a:p>
            <a:pPr algn="just">
              <a:lnSpc>
                <a:spcPts val="4480"/>
              </a:lnSpc>
            </a:pPr>
            <a:r>
              <a:rPr lang="en-US" sz="3200" b="1">
                <a:solidFill>
                  <a:srgbClr val="46513D"/>
                </a:solidFill>
                <a:latin typeface="DM Sans Bold"/>
                <a:ea typeface="DM Sans Bold"/>
                <a:cs typeface="DM Sans Bold"/>
                <a:sym typeface="DM Sans Bold"/>
              </a:rPr>
              <a:t>Knowledge Management System merupakan gabungan proses, teknologi, dan budaya kerja suatu organisasi atau perusahaan  yang bertujuan mengelola dan menjaga agar pengetahuan organisasi atau perusahaan tetap hidup, tidak hanya tersimpan di kepala karyawan, tetapi  juga terdokumentasi dan bisa dimanfaatkan semua orang untuk mendukung tujuan organisasi atau perushaan </a:t>
            </a: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3708720"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558811"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6450764" y="1935653"/>
            <a:ext cx="5386471" cy="1686742"/>
          </a:xfrm>
          <a:prstGeom prst="rect">
            <a:avLst/>
          </a:prstGeom>
        </p:spPr>
        <p:txBody>
          <a:bodyPr lIns="0" tIns="0" rIns="0" bIns="0" rtlCol="0" anchor="t">
            <a:spAutoFit/>
          </a:bodyPr>
          <a:lstStyle/>
          <a:p>
            <a:pPr algn="ctr">
              <a:lnSpc>
                <a:spcPts val="13604"/>
              </a:lnSpc>
            </a:pPr>
            <a:r>
              <a:rPr lang="en-US" sz="9717">
                <a:solidFill>
                  <a:srgbClr val="46513D"/>
                </a:solidFill>
                <a:latin typeface="Chewy"/>
                <a:ea typeface="Chewy"/>
                <a:cs typeface="Chewy"/>
                <a:sym typeface="Chewy"/>
              </a:rPr>
              <a:t>REFERENSI</a:t>
            </a:r>
          </a:p>
        </p:txBody>
      </p:sp>
      <p:sp>
        <p:nvSpPr>
          <p:cNvPr id="17" name="TextBox 17"/>
          <p:cNvSpPr txBox="1"/>
          <p:nvPr/>
        </p:nvSpPr>
        <p:spPr>
          <a:xfrm>
            <a:off x="1414738" y="4113459"/>
            <a:ext cx="15458524" cy="1671320"/>
          </a:xfrm>
          <a:prstGeom prst="rect">
            <a:avLst/>
          </a:prstGeom>
        </p:spPr>
        <p:txBody>
          <a:bodyPr lIns="0" tIns="0" rIns="0" bIns="0" rtlCol="0" anchor="t">
            <a:spAutoFit/>
          </a:bodyPr>
          <a:lstStyle/>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https://ejournal.undiksha.ac.id/index.php/IJCSL/article/view/54751/25643</a:t>
            </a:r>
          </a:p>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https://aisel.aisnet.org/cais/vol1/iss1/7/</a:t>
            </a:r>
          </a:p>
          <a:p>
            <a:pPr marL="690881" lvl="1" indent="-345440" algn="l">
              <a:lnSpc>
                <a:spcPts val="4480"/>
              </a:lnSpc>
              <a:buFont typeface="Arial"/>
              <a:buChar char="•"/>
            </a:pPr>
            <a:r>
              <a:rPr lang="en-US" sz="3200" b="1">
                <a:solidFill>
                  <a:srgbClr val="46513D"/>
                </a:solidFill>
                <a:latin typeface="DM Sans Bold"/>
                <a:ea typeface="DM Sans Bold"/>
                <a:cs typeface="DM Sans Bold"/>
                <a:sym typeface="DM Sans Bold"/>
              </a:rPr>
              <a:t>https://journal.stiestekom.ac.id/index.php/mifortekh/article/view/19</a:t>
            </a: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EADC"/>
        </a:solidFill>
        <a:effectLst/>
      </p:bgPr>
    </p:bg>
    <p:spTree>
      <p:nvGrpSpPr>
        <p:cNvPr id="1" name=""/>
        <p:cNvGrpSpPr/>
        <p:nvPr/>
      </p:nvGrpSpPr>
      <p:grpSpPr>
        <a:xfrm>
          <a:off x="0" y="0"/>
          <a:ext cx="0" cy="0"/>
          <a:chOff x="0" y="0"/>
          <a:chExt cx="0" cy="0"/>
        </a:xfrm>
      </p:grpSpPr>
      <p:sp>
        <p:nvSpPr>
          <p:cNvPr id="2" name="Freeform 2"/>
          <p:cNvSpPr/>
          <p:nvPr/>
        </p:nvSpPr>
        <p:spPr>
          <a:xfrm rot="-6498828">
            <a:off x="-1947298" y="7537983"/>
            <a:ext cx="4782489" cy="4175521"/>
          </a:xfrm>
          <a:custGeom>
            <a:avLst/>
            <a:gdLst/>
            <a:ahLst/>
            <a:cxnLst/>
            <a:rect l="l" t="t" r="r" b="b"/>
            <a:pathLst>
              <a:path w="4782489" h="4175521">
                <a:moveTo>
                  <a:pt x="0" y="0"/>
                </a:moveTo>
                <a:lnTo>
                  <a:pt x="4782489" y="0"/>
                </a:lnTo>
                <a:lnTo>
                  <a:pt x="4782489" y="4175521"/>
                </a:lnTo>
                <a:lnTo>
                  <a:pt x="0" y="41755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609696">
            <a:off x="-1674379" y="-1674379"/>
            <a:ext cx="5406158" cy="5406158"/>
          </a:xfrm>
          <a:custGeom>
            <a:avLst/>
            <a:gdLst/>
            <a:ahLst/>
            <a:cxnLst/>
            <a:rect l="l" t="t" r="r" b="b"/>
            <a:pathLst>
              <a:path w="5406158" h="5406158">
                <a:moveTo>
                  <a:pt x="0" y="0"/>
                </a:moveTo>
                <a:lnTo>
                  <a:pt x="5406158" y="0"/>
                </a:lnTo>
                <a:lnTo>
                  <a:pt x="5406158" y="5406158"/>
                </a:lnTo>
                <a:lnTo>
                  <a:pt x="0" y="54061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847506">
            <a:off x="14754389" y="6286837"/>
            <a:ext cx="6249632" cy="7157001"/>
          </a:xfrm>
          <a:custGeom>
            <a:avLst/>
            <a:gdLst/>
            <a:ahLst/>
            <a:cxnLst/>
            <a:rect l="l" t="t" r="r" b="b"/>
            <a:pathLst>
              <a:path w="6249632" h="7157001">
                <a:moveTo>
                  <a:pt x="0" y="0"/>
                </a:moveTo>
                <a:lnTo>
                  <a:pt x="6249632" y="0"/>
                </a:lnTo>
                <a:lnTo>
                  <a:pt x="6249632" y="7157001"/>
                </a:lnTo>
                <a:lnTo>
                  <a:pt x="0" y="71570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3515182">
            <a:off x="15727961" y="8996119"/>
            <a:ext cx="3062679" cy="2581762"/>
          </a:xfrm>
          <a:custGeom>
            <a:avLst/>
            <a:gdLst/>
            <a:ahLst/>
            <a:cxnLst/>
            <a:rect l="l" t="t" r="r" b="b"/>
            <a:pathLst>
              <a:path w="3062679" h="2581762">
                <a:moveTo>
                  <a:pt x="0" y="0"/>
                </a:moveTo>
                <a:lnTo>
                  <a:pt x="3062678" y="0"/>
                </a:lnTo>
                <a:lnTo>
                  <a:pt x="3062678" y="2581762"/>
                </a:lnTo>
                <a:lnTo>
                  <a:pt x="0" y="25817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3141733">
            <a:off x="13708720" y="-4464758"/>
            <a:ext cx="7086196" cy="8115023"/>
          </a:xfrm>
          <a:custGeom>
            <a:avLst/>
            <a:gdLst/>
            <a:ahLst/>
            <a:cxnLst/>
            <a:rect l="l" t="t" r="r" b="b"/>
            <a:pathLst>
              <a:path w="7086196" h="8115023">
                <a:moveTo>
                  <a:pt x="0" y="0"/>
                </a:moveTo>
                <a:lnTo>
                  <a:pt x="7086196" y="0"/>
                </a:lnTo>
                <a:lnTo>
                  <a:pt x="7086196" y="8115023"/>
                </a:lnTo>
                <a:lnTo>
                  <a:pt x="0" y="81150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1452149">
            <a:off x="15558811" y="-1975675"/>
            <a:ext cx="4051343" cy="4613289"/>
          </a:xfrm>
          <a:custGeom>
            <a:avLst/>
            <a:gdLst/>
            <a:ahLst/>
            <a:cxnLst/>
            <a:rect l="l" t="t" r="r" b="b"/>
            <a:pathLst>
              <a:path w="4051343" h="4613289">
                <a:moveTo>
                  <a:pt x="0" y="0"/>
                </a:moveTo>
                <a:lnTo>
                  <a:pt x="4051343" y="0"/>
                </a:lnTo>
                <a:lnTo>
                  <a:pt x="4051343" y="4613289"/>
                </a:lnTo>
                <a:lnTo>
                  <a:pt x="0" y="461328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922249" y="8307290"/>
            <a:ext cx="5901899" cy="5143500"/>
          </a:xfrm>
          <a:custGeom>
            <a:avLst/>
            <a:gdLst/>
            <a:ahLst/>
            <a:cxnLst/>
            <a:rect l="l" t="t" r="r" b="b"/>
            <a:pathLst>
              <a:path w="5901899" h="5143500">
                <a:moveTo>
                  <a:pt x="0" y="0"/>
                </a:moveTo>
                <a:lnTo>
                  <a:pt x="5901898" y="0"/>
                </a:lnTo>
                <a:lnTo>
                  <a:pt x="5901898" y="5143500"/>
                </a:lnTo>
                <a:lnTo>
                  <a:pt x="0" y="51435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542292" y="5447679"/>
            <a:ext cx="2733548" cy="2503838"/>
          </a:xfrm>
          <a:custGeom>
            <a:avLst/>
            <a:gdLst/>
            <a:ahLst/>
            <a:cxnLst/>
            <a:rect l="l" t="t" r="r" b="b"/>
            <a:pathLst>
              <a:path w="2733548" h="2503838">
                <a:moveTo>
                  <a:pt x="0" y="0"/>
                </a:moveTo>
                <a:lnTo>
                  <a:pt x="2733548" y="0"/>
                </a:lnTo>
                <a:lnTo>
                  <a:pt x="2733548" y="2503838"/>
                </a:lnTo>
                <a:lnTo>
                  <a:pt x="0" y="250383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Freeform 10"/>
          <p:cNvSpPr/>
          <p:nvPr/>
        </p:nvSpPr>
        <p:spPr>
          <a:xfrm>
            <a:off x="2374776" y="9028750"/>
            <a:ext cx="4572000" cy="4114800"/>
          </a:xfrm>
          <a:custGeom>
            <a:avLst/>
            <a:gdLst/>
            <a:ahLst/>
            <a:cxnLst/>
            <a:rect l="l" t="t" r="r" b="b"/>
            <a:pathLst>
              <a:path w="4572000" h="4114800">
                <a:moveTo>
                  <a:pt x="0" y="0"/>
                </a:moveTo>
                <a:lnTo>
                  <a:pt x="4572000" y="0"/>
                </a:lnTo>
                <a:lnTo>
                  <a:pt x="457200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1" name="Freeform 11"/>
          <p:cNvSpPr/>
          <p:nvPr/>
        </p:nvSpPr>
        <p:spPr>
          <a:xfrm rot="-1818680">
            <a:off x="17320334" y="4133278"/>
            <a:ext cx="1935332" cy="2628801"/>
          </a:xfrm>
          <a:custGeom>
            <a:avLst/>
            <a:gdLst/>
            <a:ahLst/>
            <a:cxnLst/>
            <a:rect l="l" t="t" r="r" b="b"/>
            <a:pathLst>
              <a:path w="1935332" h="2628801">
                <a:moveTo>
                  <a:pt x="0" y="0"/>
                </a:moveTo>
                <a:lnTo>
                  <a:pt x="1935332" y="0"/>
                </a:lnTo>
                <a:lnTo>
                  <a:pt x="1935332" y="2628801"/>
                </a:lnTo>
                <a:lnTo>
                  <a:pt x="0" y="262880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2" name="Freeform 12"/>
          <p:cNvSpPr/>
          <p:nvPr/>
        </p:nvSpPr>
        <p:spPr>
          <a:xfrm>
            <a:off x="2922491" y="-2959697"/>
            <a:ext cx="4294383" cy="4114800"/>
          </a:xfrm>
          <a:custGeom>
            <a:avLst/>
            <a:gdLst/>
            <a:ahLst/>
            <a:cxnLst/>
            <a:rect l="l" t="t" r="r" b="b"/>
            <a:pathLst>
              <a:path w="4294383" h="4114800">
                <a:moveTo>
                  <a:pt x="0" y="0"/>
                </a:moveTo>
                <a:lnTo>
                  <a:pt x="4294384" y="0"/>
                </a:lnTo>
                <a:lnTo>
                  <a:pt x="4294384" y="4114800"/>
                </a:lnTo>
                <a:lnTo>
                  <a:pt x="0" y="411480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3" name="Freeform 13"/>
          <p:cNvSpPr/>
          <p:nvPr/>
        </p:nvSpPr>
        <p:spPr>
          <a:xfrm rot="8844704">
            <a:off x="-650104" y="-2363480"/>
            <a:ext cx="3357608" cy="3912467"/>
          </a:xfrm>
          <a:custGeom>
            <a:avLst/>
            <a:gdLst/>
            <a:ahLst/>
            <a:cxnLst/>
            <a:rect l="l" t="t" r="r" b="b"/>
            <a:pathLst>
              <a:path w="3357608" h="3912467">
                <a:moveTo>
                  <a:pt x="0" y="0"/>
                </a:moveTo>
                <a:lnTo>
                  <a:pt x="3357608" y="0"/>
                </a:lnTo>
                <a:lnTo>
                  <a:pt x="3357608" y="3912467"/>
                </a:lnTo>
                <a:lnTo>
                  <a:pt x="0" y="3912467"/>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4" name="Freeform 14"/>
          <p:cNvSpPr/>
          <p:nvPr/>
        </p:nvSpPr>
        <p:spPr>
          <a:xfrm>
            <a:off x="7535988" y="9028750"/>
            <a:ext cx="4656667" cy="4114800"/>
          </a:xfrm>
          <a:custGeom>
            <a:avLst/>
            <a:gdLst/>
            <a:ahLst/>
            <a:cxnLst/>
            <a:rect l="l" t="t" r="r" b="b"/>
            <a:pathLst>
              <a:path w="4656667" h="4114800">
                <a:moveTo>
                  <a:pt x="0" y="0"/>
                </a:moveTo>
                <a:lnTo>
                  <a:pt x="4656667" y="0"/>
                </a:lnTo>
                <a:lnTo>
                  <a:pt x="4656667" y="4114800"/>
                </a:lnTo>
                <a:lnTo>
                  <a:pt x="0" y="411480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5" name="Freeform 15"/>
          <p:cNvSpPr/>
          <p:nvPr/>
        </p:nvSpPr>
        <p:spPr>
          <a:xfrm rot="2316904">
            <a:off x="7708348" y="-2464647"/>
            <a:ext cx="4778736" cy="4114800"/>
          </a:xfrm>
          <a:custGeom>
            <a:avLst/>
            <a:gdLst/>
            <a:ahLst/>
            <a:cxnLst/>
            <a:rect l="l" t="t" r="r" b="b"/>
            <a:pathLst>
              <a:path w="4778736" h="4114800">
                <a:moveTo>
                  <a:pt x="0" y="0"/>
                </a:moveTo>
                <a:lnTo>
                  <a:pt x="4778737" y="0"/>
                </a:lnTo>
                <a:lnTo>
                  <a:pt x="4778737" y="4114800"/>
                </a:lnTo>
                <a:lnTo>
                  <a:pt x="0" y="4114800"/>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sp>
      <p:sp>
        <p:nvSpPr>
          <p:cNvPr id="16" name="TextBox 16"/>
          <p:cNvSpPr txBox="1"/>
          <p:nvPr/>
        </p:nvSpPr>
        <p:spPr>
          <a:xfrm>
            <a:off x="4477850" y="4195354"/>
            <a:ext cx="9332300" cy="1686742"/>
          </a:xfrm>
          <a:prstGeom prst="rect">
            <a:avLst/>
          </a:prstGeom>
        </p:spPr>
        <p:txBody>
          <a:bodyPr lIns="0" tIns="0" rIns="0" bIns="0" rtlCol="0" anchor="t">
            <a:spAutoFit/>
          </a:bodyPr>
          <a:lstStyle/>
          <a:p>
            <a:pPr algn="ctr">
              <a:lnSpc>
                <a:spcPts val="13604"/>
              </a:lnSpc>
            </a:pPr>
            <a:r>
              <a:rPr lang="en-US" sz="9717">
                <a:solidFill>
                  <a:srgbClr val="46513D"/>
                </a:solidFill>
                <a:latin typeface="Chewy"/>
                <a:ea typeface="Chewy"/>
                <a:cs typeface="Chewy"/>
                <a:sym typeface="Chewy"/>
              </a:rPr>
              <a:t>TERIMA KASIH</a:t>
            </a:r>
          </a:p>
        </p:txBody>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637</Words>
  <Application>Microsoft Office PowerPoint</Application>
  <PresentationFormat>Kustom</PresentationFormat>
  <Paragraphs>68</Paragraphs>
  <Slides>14</Slides>
  <Notes>0</Notes>
  <HiddenSlides>0</HiddenSlides>
  <MMClips>0</MMClips>
  <ScaleCrop>false</ScaleCrop>
  <HeadingPairs>
    <vt:vector size="6" baseType="variant">
      <vt:variant>
        <vt:lpstr>Font Dipakai</vt:lpstr>
      </vt:variant>
      <vt:variant>
        <vt:i4>4</vt:i4>
      </vt:variant>
      <vt:variant>
        <vt:lpstr>Tema</vt:lpstr>
      </vt:variant>
      <vt:variant>
        <vt:i4>1</vt:i4>
      </vt:variant>
      <vt:variant>
        <vt:lpstr>Judul Slide</vt:lpstr>
      </vt:variant>
      <vt:variant>
        <vt:i4>14</vt:i4>
      </vt:variant>
    </vt:vector>
  </HeadingPairs>
  <TitlesOfParts>
    <vt:vector size="19" baseType="lpstr">
      <vt:lpstr>DM Sans Bold</vt:lpstr>
      <vt:lpstr>Calibri</vt:lpstr>
      <vt:lpstr>Chewy</vt:lpstr>
      <vt:lpstr>Arial</vt:lpstr>
      <vt:lpstr>Office Theme</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KMS</dc:title>
  <cp:lastModifiedBy>ADVAN</cp:lastModifiedBy>
  <cp:revision>2</cp:revision>
  <dcterms:created xsi:type="dcterms:W3CDTF">2006-08-16T00:00:00Z</dcterms:created>
  <dcterms:modified xsi:type="dcterms:W3CDTF">2025-10-14T04:11:59Z</dcterms:modified>
  <dc:identifier>DAG0iSC9DrM</dc:identifier>
</cp:coreProperties>
</file>