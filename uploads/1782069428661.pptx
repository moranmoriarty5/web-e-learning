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sldIdLst>
    <p:sldId id="278" r:id="rId5"/>
    <p:sldId id="279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296" r:id="rId14"/>
    <p:sldId id="306" r:id="rId15"/>
    <p:sldId id="307" r:id="rId16"/>
    <p:sldId id="308" r:id="rId17"/>
    <p:sldId id="309" r:id="rId18"/>
    <p:sldId id="281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83" d="100"/>
          <a:sy n="83" d="100"/>
        </p:scale>
        <p:origin x="614" y="67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457200"/>
            <a:ext cx="987552" cy="274320"/>
          </a:xfrm>
        </p:spPr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enterprise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SEMESTER GASAL 2025/2026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65E9-D88A-55D3-9D42-BD1C24B6D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chemeClr val="accent6"/>
                </a:solidFill>
                <a:latin typeface="Arial Black" panose="020B0604020202020204" pitchFamily="34" charset="0"/>
                <a:ea typeface="Arial Regular" pitchFamily="34" charset="-122"/>
                <a:cs typeface="Arial Black" panose="020B0604020202020204" pitchFamily="34" charset="0"/>
              </a:rPr>
              <a:t>AGENDA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F66E5-D2D7-172B-46BA-FEBFE092C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RPS</a:t>
            </a:r>
          </a:p>
          <a:p>
            <a:r>
              <a:rPr lang="en-US" dirty="0" err="1"/>
              <a:t>Kontrak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31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7857F-62F1-F99B-30D5-DBA46030F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err="1"/>
              <a:t>Jadwal</a:t>
            </a:r>
            <a:r>
              <a:rPr lang="en-US" sz="2400" dirty="0"/>
              <a:t> </a:t>
            </a:r>
            <a:r>
              <a:rPr lang="en-US" sz="2400" dirty="0" err="1"/>
              <a:t>perkuliahan</a:t>
            </a:r>
            <a:r>
              <a:rPr lang="en-US" sz="2400" dirty="0"/>
              <a:t> 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98402-C8AA-9B17-5333-C3944D90B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6064966" cy="3122168"/>
          </a:xfrm>
        </p:spPr>
        <p:txBody>
          <a:bodyPr/>
          <a:lstStyle/>
          <a:p>
            <a:r>
              <a:rPr lang="en-US" dirty="0"/>
              <a:t>Offline, Rabu 10.15-13.00 </a:t>
            </a:r>
            <a:r>
              <a:rPr lang="en-US" dirty="0" err="1"/>
              <a:t>WIB,Ruang</a:t>
            </a:r>
            <a:r>
              <a:rPr lang="en-US" dirty="0"/>
              <a:t> S207</a:t>
            </a:r>
          </a:p>
          <a:p>
            <a:r>
              <a:rPr lang="en-US" dirty="0"/>
              <a:t>LMS, lms.akprind.ac.id, </a:t>
            </a:r>
          </a:p>
          <a:p>
            <a:r>
              <a:rPr lang="en-US" dirty="0" err="1"/>
              <a:t>Sistem</a:t>
            </a:r>
            <a:r>
              <a:rPr lang="en-US" dirty="0"/>
              <a:t> Enterprise_2025_Gasal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89424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1F538-A648-1B28-FE72-7F8648500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5" y="1901952"/>
            <a:ext cx="6214595" cy="768096"/>
          </a:xfrm>
        </p:spPr>
        <p:txBody>
          <a:bodyPr/>
          <a:lstStyle/>
          <a:p>
            <a:r>
              <a:rPr lang="en-ID" sz="2800" dirty="0" err="1"/>
              <a:t>Deskripsi</a:t>
            </a:r>
            <a:r>
              <a:rPr lang="en-ID" sz="2800" dirty="0"/>
              <a:t> Mata </a:t>
            </a:r>
            <a:r>
              <a:rPr lang="en-ID" sz="2800" dirty="0" err="1"/>
              <a:t>Kuliah</a:t>
            </a:r>
            <a:endParaRPr lang="en-ID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1B61-9BA2-E597-57F0-AC0D68227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dirty="0"/>
              <a:t>Mata </a:t>
            </a:r>
            <a:r>
              <a:rPr lang="en-ID" dirty="0" err="1"/>
              <a:t>kuliah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 </a:t>
            </a:r>
            <a:r>
              <a:rPr lang="en-ID" dirty="0" err="1"/>
              <a:t>membahas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, </a:t>
            </a:r>
            <a:r>
              <a:rPr lang="en-ID" dirty="0" err="1"/>
              <a:t>arsitektur</a:t>
            </a:r>
            <a:r>
              <a:rPr lang="en-ID" dirty="0"/>
              <a:t>, </a:t>
            </a:r>
            <a:r>
              <a:rPr lang="en-ID" dirty="0" err="1"/>
              <a:t>implementasi</a:t>
            </a:r>
            <a:r>
              <a:rPr lang="en-ID" dirty="0"/>
              <a:t>, dan </a:t>
            </a:r>
            <a:r>
              <a:rPr lang="en-ID" dirty="0" err="1"/>
              <a:t>pemanfaatan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terintegrasi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organisasi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Fokus</a:t>
            </a:r>
            <a:r>
              <a:rPr lang="en-ID" dirty="0"/>
              <a:t>: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teknologi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mendukung</a:t>
            </a:r>
            <a:r>
              <a:rPr lang="en-ID" dirty="0"/>
              <a:t> proses </a:t>
            </a:r>
            <a:r>
              <a:rPr lang="en-ID" dirty="0" err="1"/>
              <a:t>bisnis</a:t>
            </a:r>
            <a:r>
              <a:rPr lang="en-ID" dirty="0"/>
              <a:t>, </a:t>
            </a:r>
            <a:r>
              <a:rPr lang="en-ID" dirty="0" err="1"/>
              <a:t>integrasi</a:t>
            </a:r>
            <a:r>
              <a:rPr lang="en-ID" dirty="0"/>
              <a:t> data,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strategis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ERP, CRM, SCM, </a:t>
            </a:r>
            <a:r>
              <a:rPr lang="en-ID" dirty="0" err="1"/>
              <a:t>dll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810359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D9A09-3568-CB90-0E44-7CDD13A1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800" dirty="0" err="1"/>
              <a:t>Capaian</a:t>
            </a:r>
            <a:r>
              <a:rPr lang="en-ID" sz="2800" dirty="0"/>
              <a:t> </a:t>
            </a:r>
            <a:r>
              <a:rPr lang="en-ID" sz="2800" dirty="0" err="1"/>
              <a:t>Pembelajaran</a:t>
            </a:r>
            <a:r>
              <a:rPr lang="en-ID" sz="2800" dirty="0"/>
              <a:t> </a:t>
            </a:r>
            <a:r>
              <a:rPr lang="en-ID" sz="2800" dirty="0" err="1"/>
              <a:t>Pertemuan</a:t>
            </a:r>
            <a:r>
              <a:rPr lang="en-ID" sz="2800" dirty="0"/>
              <a:t>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360F-46E0-E8E3-9087-BCD4D666B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Menjelaskan</a:t>
            </a:r>
            <a:r>
              <a:rPr lang="en-ID" dirty="0"/>
              <a:t> </a:t>
            </a:r>
            <a:r>
              <a:rPr lang="en-ID" dirty="0" err="1"/>
              <a:t>pengertian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Menguraikan</a:t>
            </a:r>
            <a:r>
              <a:rPr lang="en-ID" dirty="0"/>
              <a:t> </a:t>
            </a:r>
            <a:r>
              <a:rPr lang="en-ID" dirty="0" err="1"/>
              <a:t>sejarah</a:t>
            </a:r>
            <a:r>
              <a:rPr lang="en-ID" dirty="0"/>
              <a:t> </a:t>
            </a:r>
            <a:r>
              <a:rPr lang="en-ID" dirty="0" err="1"/>
              <a:t>perkembangan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komponen</a:t>
            </a:r>
            <a:r>
              <a:rPr lang="en-ID" dirty="0"/>
              <a:t> &amp; </a:t>
            </a:r>
            <a:r>
              <a:rPr lang="en-ID" dirty="0" err="1"/>
              <a:t>modul</a:t>
            </a:r>
            <a:r>
              <a:rPr lang="en-ID" dirty="0"/>
              <a:t> </a:t>
            </a:r>
            <a:r>
              <a:rPr lang="en-ID" dirty="0" err="1"/>
              <a:t>utama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penerapan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manfaat</a:t>
            </a:r>
            <a:r>
              <a:rPr lang="en-ID" dirty="0"/>
              <a:t> &amp;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87187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6BBD-7FC4-BA49-F52B-92A1EF8EF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400" dirty="0" err="1"/>
              <a:t>Definisi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Enterprise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98641-6F8E-044C-F232-4893CC9B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D" sz="2500" dirty="0"/>
              <a:t>Enterprise System (ES): </a:t>
            </a:r>
            <a:r>
              <a:rPr lang="en-ID" sz="2500" dirty="0" err="1"/>
              <a:t>perangkat</a:t>
            </a:r>
            <a:r>
              <a:rPr lang="en-ID" sz="2500" dirty="0"/>
              <a:t> </a:t>
            </a:r>
            <a:r>
              <a:rPr lang="en-ID" sz="2500" dirty="0" err="1"/>
              <a:t>lunak</a:t>
            </a:r>
            <a:r>
              <a:rPr lang="en-ID" sz="2500" dirty="0"/>
              <a:t> </a:t>
            </a:r>
            <a:r>
              <a:rPr lang="en-ID" sz="2500" dirty="0" err="1"/>
              <a:t>berskala</a:t>
            </a:r>
            <a:r>
              <a:rPr lang="en-ID" sz="2500" dirty="0"/>
              <a:t> </a:t>
            </a:r>
            <a:r>
              <a:rPr lang="en-ID" sz="2500" dirty="0" err="1"/>
              <a:t>besar</a:t>
            </a:r>
            <a:r>
              <a:rPr lang="en-ID" sz="2500" dirty="0"/>
              <a:t> </a:t>
            </a:r>
            <a:r>
              <a:rPr lang="en-ID" sz="2500" dirty="0" err="1"/>
              <a:t>untuk</a:t>
            </a:r>
            <a:r>
              <a:rPr lang="en-ID" sz="2500" dirty="0"/>
              <a:t> </a:t>
            </a:r>
            <a:r>
              <a:rPr lang="en-ID" sz="2500" dirty="0" err="1"/>
              <a:t>mendukung</a:t>
            </a:r>
            <a:r>
              <a:rPr lang="en-ID" sz="2500" dirty="0"/>
              <a:t>, </a:t>
            </a:r>
            <a:r>
              <a:rPr lang="en-ID" sz="2500" dirty="0" err="1"/>
              <a:t>mengintegrasikan</a:t>
            </a:r>
            <a:r>
              <a:rPr lang="en-ID" sz="2500" dirty="0"/>
              <a:t>, dan </a:t>
            </a:r>
            <a:r>
              <a:rPr lang="en-ID" sz="2500" dirty="0" err="1"/>
              <a:t>mengotomatisasi</a:t>
            </a:r>
            <a:r>
              <a:rPr lang="en-ID" sz="2500" dirty="0"/>
              <a:t> proses </a:t>
            </a:r>
            <a:r>
              <a:rPr lang="en-ID" sz="2500" dirty="0" err="1"/>
              <a:t>bisnis</a:t>
            </a:r>
            <a:r>
              <a:rPr lang="en-ID" sz="2500" dirty="0"/>
              <a:t> </a:t>
            </a:r>
            <a:r>
              <a:rPr lang="en-ID" sz="2500" dirty="0" err="1"/>
              <a:t>utama</a:t>
            </a:r>
            <a:r>
              <a:rPr lang="en-ID" sz="2500" dirty="0"/>
              <a:t> </a:t>
            </a:r>
            <a:r>
              <a:rPr lang="en-ID" sz="2500" dirty="0" err="1"/>
              <a:t>organisasi</a:t>
            </a:r>
            <a:r>
              <a:rPr lang="en-ID" sz="2500" dirty="0"/>
              <a:t>.</a:t>
            </a:r>
          </a:p>
          <a:p>
            <a:endParaRPr lang="en-ID" sz="2500" dirty="0"/>
          </a:p>
          <a:p>
            <a:r>
              <a:rPr lang="en-US" sz="2500" dirty="0" err="1"/>
              <a:t>Sistem</a:t>
            </a:r>
            <a:r>
              <a:rPr lang="en-US" sz="2500" dirty="0"/>
              <a:t> Enterprise </a:t>
            </a:r>
            <a:r>
              <a:rPr lang="en-US" sz="2500" dirty="0" err="1"/>
              <a:t>adalah</a:t>
            </a:r>
            <a:r>
              <a:rPr lang="en-US" sz="2500" dirty="0"/>
              <a:t> </a:t>
            </a:r>
            <a:r>
              <a:rPr lang="en-US" sz="2500" dirty="0" err="1"/>
              <a:t>Infrastruktur</a:t>
            </a:r>
            <a:r>
              <a:rPr lang="en-US" sz="2500" dirty="0"/>
              <a:t> </a:t>
            </a:r>
            <a:r>
              <a:rPr lang="en-US" sz="2500" dirty="0" err="1"/>
              <a:t>Teknologi</a:t>
            </a:r>
            <a:r>
              <a:rPr lang="en-US" sz="2500" dirty="0"/>
              <a:t> </a:t>
            </a:r>
            <a:r>
              <a:rPr lang="en-US" sz="2500" dirty="0" err="1"/>
              <a:t>Informasi</a:t>
            </a:r>
            <a:r>
              <a:rPr lang="en-US" sz="2500" dirty="0"/>
              <a:t> yang </a:t>
            </a:r>
            <a:r>
              <a:rPr lang="en-US" sz="2500" dirty="0" err="1"/>
              <a:t>digunakan</a:t>
            </a:r>
            <a:r>
              <a:rPr lang="en-US" sz="2500" dirty="0"/>
              <a:t> oleh </a:t>
            </a:r>
            <a:r>
              <a:rPr lang="en-US" sz="2500" dirty="0" err="1"/>
              <a:t>suatu</a:t>
            </a:r>
            <a:r>
              <a:rPr lang="en-US" sz="2500" dirty="0"/>
              <a:t> Perusahaan </a:t>
            </a:r>
            <a:r>
              <a:rPr lang="en-US" sz="2500" dirty="0" err="1"/>
              <a:t>untuk</a:t>
            </a:r>
            <a:r>
              <a:rPr lang="en-US" sz="2500" dirty="0"/>
              <a:t> </a:t>
            </a:r>
            <a:r>
              <a:rPr lang="en-US" sz="2500" dirty="0" err="1"/>
              <a:t>mengelola</a:t>
            </a:r>
            <a:r>
              <a:rPr lang="en-US" sz="2500" dirty="0"/>
              <a:t> </a:t>
            </a:r>
            <a:r>
              <a:rPr lang="en-US" sz="2500" dirty="0" err="1"/>
              <a:t>operasi</a:t>
            </a:r>
            <a:r>
              <a:rPr lang="en-US" sz="2500" dirty="0"/>
              <a:t> </a:t>
            </a:r>
            <a:r>
              <a:rPr lang="en-US" sz="2500" dirty="0" err="1"/>
              <a:t>bisnisnya</a:t>
            </a:r>
            <a:r>
              <a:rPr lang="en-US" sz="2500" dirty="0"/>
              <a:t> </a:t>
            </a:r>
            <a:r>
              <a:rPr lang="en-US" sz="2500" dirty="0" err="1"/>
              <a:t>secara</a:t>
            </a:r>
            <a:r>
              <a:rPr lang="en-US" sz="2500" dirty="0"/>
              <a:t> </a:t>
            </a:r>
            <a:r>
              <a:rPr lang="en-US" sz="2500" dirty="0" err="1"/>
              <a:t>efektif</a:t>
            </a:r>
            <a:r>
              <a:rPr lang="en-US" sz="2500" dirty="0"/>
              <a:t> dan </a:t>
            </a:r>
            <a:r>
              <a:rPr lang="en-US" sz="2500" dirty="0" err="1"/>
              <a:t>efisien</a:t>
            </a:r>
            <a:endParaRPr lang="en-US" sz="2500" dirty="0"/>
          </a:p>
          <a:p>
            <a:endParaRPr lang="en-US" sz="2500" dirty="0"/>
          </a:p>
          <a:p>
            <a:r>
              <a:rPr lang="en-US" sz="2500" dirty="0" err="1"/>
              <a:t>Sistem</a:t>
            </a:r>
            <a:r>
              <a:rPr lang="en-US" sz="2500" dirty="0"/>
              <a:t> Enterprise </a:t>
            </a:r>
            <a:r>
              <a:rPr lang="en-US" sz="2500" dirty="0" err="1"/>
              <a:t>terdiri</a:t>
            </a:r>
            <a:r>
              <a:rPr lang="en-US" sz="2500" dirty="0"/>
              <a:t> </a:t>
            </a:r>
            <a:r>
              <a:rPr lang="en-US" sz="2500" dirty="0" err="1"/>
              <a:t>dari</a:t>
            </a:r>
            <a:r>
              <a:rPr lang="en-US" sz="2500" dirty="0"/>
              <a:t> </a:t>
            </a:r>
            <a:r>
              <a:rPr lang="en-US" sz="2500" dirty="0" err="1"/>
              <a:t>perangkat</a:t>
            </a:r>
            <a:r>
              <a:rPr lang="en-US" sz="2500" dirty="0"/>
              <a:t> </a:t>
            </a:r>
            <a:r>
              <a:rPr lang="en-US" sz="2500" dirty="0" err="1"/>
              <a:t>lunak</a:t>
            </a:r>
            <a:r>
              <a:rPr lang="en-US" sz="2500" dirty="0"/>
              <a:t>, </a:t>
            </a:r>
            <a:r>
              <a:rPr lang="en-US" sz="2500" dirty="0" err="1"/>
              <a:t>perangkat</a:t>
            </a:r>
            <a:r>
              <a:rPr lang="en-US" sz="2500" dirty="0"/>
              <a:t> </a:t>
            </a:r>
            <a:r>
              <a:rPr lang="en-US" sz="2500" dirty="0" err="1"/>
              <a:t>keras</a:t>
            </a:r>
            <a:r>
              <a:rPr lang="en-US" sz="2500" dirty="0"/>
              <a:t>, dan </a:t>
            </a:r>
            <a:r>
              <a:rPr lang="en-US" sz="2500" dirty="0" err="1"/>
              <a:t>jaringan</a:t>
            </a:r>
            <a:r>
              <a:rPr lang="en-US" sz="2500" dirty="0"/>
              <a:t> yang </a:t>
            </a:r>
            <a:r>
              <a:rPr lang="en-US" sz="2500" dirty="0" err="1"/>
              <a:t>digunakan</a:t>
            </a:r>
            <a:r>
              <a:rPr lang="en-US" sz="2500" dirty="0"/>
              <a:t> </a:t>
            </a:r>
            <a:r>
              <a:rPr lang="en-US" sz="2500" dirty="0" err="1"/>
              <a:t>untuk</a:t>
            </a:r>
            <a:r>
              <a:rPr lang="en-US" sz="2500" dirty="0"/>
              <a:t> </a:t>
            </a:r>
            <a:r>
              <a:rPr lang="en-US" sz="2500" dirty="0" err="1"/>
              <a:t>mengintegrasikan</a:t>
            </a:r>
            <a:r>
              <a:rPr lang="en-US" sz="2500" dirty="0"/>
              <a:t> proses </a:t>
            </a:r>
            <a:r>
              <a:rPr lang="en-US" sz="2500" dirty="0" err="1"/>
              <a:t>bisnis</a:t>
            </a:r>
            <a:r>
              <a:rPr lang="en-US" sz="2500" dirty="0"/>
              <a:t> </a:t>
            </a:r>
            <a:r>
              <a:rPr lang="en-US" sz="2500" dirty="0" err="1"/>
              <a:t>serta</a:t>
            </a:r>
            <a:r>
              <a:rPr lang="en-US" sz="2500" dirty="0"/>
              <a:t> </a:t>
            </a:r>
            <a:r>
              <a:rPr lang="en-US" sz="2500" dirty="0" err="1"/>
              <a:t>informasi</a:t>
            </a:r>
            <a:r>
              <a:rPr lang="en-US" sz="2500" dirty="0"/>
              <a:t> di </a:t>
            </a:r>
            <a:r>
              <a:rPr lang="en-US" sz="2500" dirty="0" err="1"/>
              <a:t>seluruh</a:t>
            </a:r>
            <a:r>
              <a:rPr lang="en-US" sz="2500" dirty="0"/>
              <a:t> Perusahaan</a:t>
            </a:r>
          </a:p>
          <a:p>
            <a:endParaRPr lang="en-ID" sz="2500" dirty="0"/>
          </a:p>
          <a:p>
            <a:r>
              <a:rPr lang="en-ID" sz="2500" dirty="0"/>
              <a:t>ERP (Enterprise Resource Planning) </a:t>
            </a:r>
            <a:r>
              <a:rPr lang="en-ID" sz="2500" dirty="0" err="1"/>
              <a:t>adalah</a:t>
            </a:r>
            <a:r>
              <a:rPr lang="en-ID" sz="2500" dirty="0"/>
              <a:t> inti </a:t>
            </a:r>
            <a:r>
              <a:rPr lang="en-ID" sz="2500" dirty="0" err="1"/>
              <a:t>sistem</a:t>
            </a:r>
            <a:r>
              <a:rPr lang="en-ID" sz="2500" dirty="0"/>
              <a:t> enterprise yang </a:t>
            </a:r>
            <a:r>
              <a:rPr lang="en-ID" sz="2500" dirty="0" err="1"/>
              <a:t>menghubungkan</a:t>
            </a:r>
            <a:r>
              <a:rPr lang="en-ID" sz="2500" dirty="0"/>
              <a:t> </a:t>
            </a:r>
            <a:r>
              <a:rPr lang="en-ID" sz="2500" dirty="0" err="1"/>
              <a:t>fungsi</a:t>
            </a:r>
            <a:r>
              <a:rPr lang="en-ID" sz="2500" dirty="0"/>
              <a:t> </a:t>
            </a:r>
            <a:r>
              <a:rPr lang="en-ID" sz="2500" dirty="0" err="1"/>
              <a:t>keuangan</a:t>
            </a:r>
            <a:r>
              <a:rPr lang="en-ID" sz="2500" dirty="0"/>
              <a:t>, </a:t>
            </a:r>
            <a:r>
              <a:rPr lang="en-ID" sz="2500" dirty="0" err="1"/>
              <a:t>produksi</a:t>
            </a:r>
            <a:r>
              <a:rPr lang="en-ID" sz="2500" dirty="0"/>
              <a:t>, </a:t>
            </a:r>
            <a:r>
              <a:rPr lang="en-ID" sz="2500" dirty="0" err="1"/>
              <a:t>pemasaran</a:t>
            </a:r>
            <a:r>
              <a:rPr lang="en-ID" sz="2500" dirty="0"/>
              <a:t>, </a:t>
            </a:r>
            <a:r>
              <a:rPr lang="en-ID" sz="2500" dirty="0" err="1"/>
              <a:t>logistik</a:t>
            </a:r>
            <a:r>
              <a:rPr lang="en-ID" sz="2500" dirty="0"/>
              <a:t>, dan SDM.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8530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9D1F-6672-B283-439C-111C52AB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800" dirty="0"/>
              <a:t>Sejarah </a:t>
            </a:r>
            <a:r>
              <a:rPr lang="en-ID" sz="2800" dirty="0" err="1"/>
              <a:t>Perkembangan</a:t>
            </a:r>
            <a:r>
              <a:rPr lang="en-ID" sz="2800" dirty="0"/>
              <a:t> </a:t>
            </a:r>
            <a:r>
              <a:rPr lang="en-ID" sz="2800" dirty="0" err="1"/>
              <a:t>Sistem</a:t>
            </a:r>
            <a:r>
              <a:rPr lang="en-ID" sz="2800" dirty="0"/>
              <a:t> Enterprise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72B6-5484-ECC1-6463-CFC00F25D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D" dirty="0"/>
              <a:t>1960-an: MRP (Material Requirements Planning)</a:t>
            </a:r>
          </a:p>
          <a:p>
            <a:r>
              <a:rPr lang="en-ID" dirty="0"/>
              <a:t>1970–1980-an: MRP II (Manufacturing Resource Planning)</a:t>
            </a:r>
          </a:p>
          <a:p>
            <a:r>
              <a:rPr lang="en-ID" dirty="0"/>
              <a:t>1990-an: ERP </a:t>
            </a:r>
            <a:r>
              <a:rPr lang="en-ID" dirty="0" err="1"/>
              <a:t>muncul</a:t>
            </a:r>
            <a:r>
              <a:rPr lang="en-ID" dirty="0"/>
              <a:t> –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seluruh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 </a:t>
            </a:r>
            <a:r>
              <a:rPr lang="en-ID" dirty="0" err="1"/>
              <a:t>bisnis</a:t>
            </a:r>
            <a:endParaRPr lang="en-ID" dirty="0"/>
          </a:p>
          <a:p>
            <a:r>
              <a:rPr lang="en-ID" dirty="0"/>
              <a:t>2000-an – </a:t>
            </a:r>
            <a:r>
              <a:rPr lang="en-ID" dirty="0" err="1"/>
              <a:t>sekarang</a:t>
            </a:r>
            <a:r>
              <a:rPr lang="en-ID" dirty="0"/>
              <a:t>: ERP + CRM, SCM, Cloud ERP, AI &amp; Big Data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17399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9616C-562E-67B2-57F4-DE54E886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400" dirty="0" err="1"/>
              <a:t>Karakteristik</a:t>
            </a:r>
            <a:r>
              <a:rPr lang="en-ID" sz="2400" dirty="0"/>
              <a:t> </a:t>
            </a:r>
            <a:r>
              <a:rPr lang="en-ID" sz="2400" dirty="0" err="1"/>
              <a:t>Sistem</a:t>
            </a:r>
            <a:r>
              <a:rPr lang="en-ID" sz="2400" dirty="0"/>
              <a:t> Enterprise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AC469-B20C-0E4A-AE84-20AD85404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dirty="0"/>
              <a:t>Skala </a:t>
            </a:r>
            <a:r>
              <a:rPr lang="en-ID" dirty="0" err="1"/>
              <a:t>besar</a:t>
            </a:r>
            <a:r>
              <a:rPr lang="en-ID" dirty="0"/>
              <a:t> &amp; </a:t>
            </a:r>
            <a:r>
              <a:rPr lang="en-ID" dirty="0" err="1"/>
              <a:t>kompleks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 </a:t>
            </a:r>
            <a:r>
              <a:rPr lang="en-ID" dirty="0" err="1"/>
              <a:t>Terintegrasi</a:t>
            </a:r>
            <a:r>
              <a:rPr lang="en-ID" dirty="0"/>
              <a:t> </a:t>
            </a:r>
            <a:r>
              <a:rPr lang="en-ID" dirty="0" err="1"/>
              <a:t>lintas</a:t>
            </a:r>
            <a:r>
              <a:rPr lang="en-ID" dirty="0"/>
              <a:t> </a:t>
            </a:r>
            <a:r>
              <a:rPr lang="en-ID" dirty="0" err="1"/>
              <a:t>fungsi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 Database </a:t>
            </a:r>
            <a:r>
              <a:rPr lang="en-ID" dirty="0" err="1"/>
              <a:t>tunggal</a:t>
            </a:r>
            <a:r>
              <a:rPr lang="en-ID" dirty="0"/>
              <a:t> (single source of truth)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 Real-time 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 Modular (ERP, CRM, SCM, </a:t>
            </a:r>
            <a:r>
              <a:rPr lang="en-ID" dirty="0" err="1"/>
              <a:t>dll</a:t>
            </a:r>
            <a:r>
              <a:rPr lang="en-ID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 User-friendly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503644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3CD50-5EA0-1CFD-17FD-836FCFB37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800" dirty="0" err="1"/>
              <a:t>Komponen</a:t>
            </a:r>
            <a:r>
              <a:rPr lang="en-ID" sz="2800" dirty="0"/>
              <a:t> Utama </a:t>
            </a:r>
            <a:r>
              <a:rPr lang="en-ID" sz="2800" dirty="0" err="1"/>
              <a:t>Sistem</a:t>
            </a:r>
            <a:r>
              <a:rPr lang="en-ID" sz="2800" dirty="0"/>
              <a:t> Enterprise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1AED0-33B4-12D7-CD4D-06BB2A7F8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1. ERP (Enterprise Resource Planning)</a:t>
            </a:r>
          </a:p>
          <a:p>
            <a:r>
              <a:rPr lang="en-US" dirty="0"/>
              <a:t>2. CRM (Customer Relationship Management)</a:t>
            </a:r>
          </a:p>
          <a:p>
            <a:r>
              <a:rPr lang="en-US" dirty="0"/>
              <a:t>3. SCM (Supply Chain Management)</a:t>
            </a:r>
          </a:p>
          <a:p>
            <a:r>
              <a:rPr lang="en-US" dirty="0"/>
              <a:t>4. KMS (Knowledge Management System)</a:t>
            </a:r>
          </a:p>
          <a:p>
            <a:r>
              <a:rPr lang="en-US" dirty="0"/>
              <a:t>5. BI (Business Intelligence)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5561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0BC6-9DA0-FB4D-8879-DC8B3958C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8808" y="1033983"/>
            <a:ext cx="6766560" cy="768096"/>
          </a:xfrm>
        </p:spPr>
        <p:txBody>
          <a:bodyPr/>
          <a:lstStyle/>
          <a:p>
            <a:r>
              <a:rPr lang="en-US" sz="2400" dirty="0" err="1"/>
              <a:t>Jenis</a:t>
            </a:r>
            <a:r>
              <a:rPr lang="en-US" sz="2400" dirty="0"/>
              <a:t> SE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3571BF2-FCCE-E7A0-736D-9168D2BBF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Sistem</a:t>
            </a:r>
            <a:r>
              <a:rPr lang="en-US" dirty="0"/>
              <a:t> Enterprise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7FC3FD3F-45EE-74E3-AD64-441303B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B8C4B-3A3C-9FD1-59FB-1666C1F09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8808" y="2006512"/>
            <a:ext cx="6766560" cy="2700528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Enterprise Resources Planning (ERP)</a:t>
            </a: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US" sz="1200" dirty="0" err="1">
                <a:sym typeface="Wingdings" panose="05000000000000000000" pitchFamily="2" charset="2"/>
              </a:rPr>
              <a:t>Sistem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Informasi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Terintegrasi</a:t>
            </a:r>
            <a:r>
              <a:rPr lang="en-US" sz="1200" dirty="0">
                <a:sym typeface="Wingdings" panose="05000000000000000000" pitchFamily="2" charset="2"/>
              </a:rPr>
              <a:t> yang </a:t>
            </a:r>
            <a:r>
              <a:rPr lang="en-US" sz="1200" dirty="0" err="1">
                <a:sym typeface="Wingdings" panose="05000000000000000000" pitchFamily="2" charset="2"/>
              </a:rPr>
              <a:t>dirancang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untuk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mengelola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semua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aspek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bisnis</a:t>
            </a:r>
            <a:r>
              <a:rPr lang="en-US" sz="1200" dirty="0">
                <a:sym typeface="Wingdings" panose="05000000000000000000" pitchFamily="2" charset="2"/>
              </a:rPr>
              <a:t> Perusahaan </a:t>
            </a:r>
            <a:r>
              <a:rPr lang="en-US" sz="1200" dirty="0" err="1">
                <a:sym typeface="Wingdings" panose="05000000000000000000" pitchFamily="2" charset="2"/>
              </a:rPr>
              <a:t>secara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terpusat</a:t>
            </a:r>
            <a:r>
              <a:rPr lang="en-US" sz="1200" dirty="0">
                <a:sym typeface="Wingdings" panose="05000000000000000000" pitchFamily="2" charset="2"/>
              </a:rPr>
              <a:t>. </a:t>
            </a:r>
            <a:r>
              <a:rPr lang="en-US" sz="1200" dirty="0" err="1">
                <a:sym typeface="Wingdings" panose="05000000000000000000" pitchFamily="2" charset="2"/>
              </a:rPr>
              <a:t>Sistem</a:t>
            </a:r>
            <a:r>
              <a:rPr lang="en-US" sz="1200" dirty="0">
                <a:sym typeface="Wingdings" panose="05000000000000000000" pitchFamily="2" charset="2"/>
              </a:rPr>
              <a:t> yang </a:t>
            </a:r>
            <a:r>
              <a:rPr lang="en-US" sz="1200" dirty="0" err="1">
                <a:sym typeface="Wingdings" panose="05000000000000000000" pitchFamily="2" charset="2"/>
              </a:rPr>
              <a:t>terintegrasi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yaitu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modul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sumber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daya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manusia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keuangan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produksi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terdistribusi</a:t>
            </a:r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ym typeface="Wingdings" panose="05000000000000000000" pitchFamily="2" charset="2"/>
              </a:rPr>
              <a:t>Customer Relationship Management (CRM) </a:t>
            </a:r>
            <a:r>
              <a:rPr lang="en-US" sz="1200" dirty="0" err="1">
                <a:sym typeface="Wingdings" panose="05000000000000000000" pitchFamily="2" charset="2"/>
              </a:rPr>
              <a:t>Sistem</a:t>
            </a:r>
            <a:r>
              <a:rPr lang="en-US" sz="1200" dirty="0">
                <a:sym typeface="Wingdings" panose="05000000000000000000" pitchFamily="2" charset="2"/>
              </a:rPr>
              <a:t> yang </a:t>
            </a:r>
            <a:r>
              <a:rPr lang="en-US" sz="1200" dirty="0" err="1">
                <a:sym typeface="Wingdings" panose="05000000000000000000" pitchFamily="2" charset="2"/>
              </a:rPr>
              <a:t>membantu</a:t>
            </a:r>
            <a:r>
              <a:rPr lang="en-US" sz="1200" dirty="0">
                <a:sym typeface="Wingdings" panose="05000000000000000000" pitchFamily="2" charset="2"/>
              </a:rPr>
              <a:t> Perusahaan </a:t>
            </a:r>
            <a:r>
              <a:rPr lang="en-US" sz="1200" dirty="0" err="1">
                <a:sym typeface="Wingdings" panose="05000000000000000000" pitchFamily="2" charset="2"/>
              </a:rPr>
              <a:t>dalam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pengelolaan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hubungan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dengan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pelanggan</a:t>
            </a:r>
            <a:r>
              <a:rPr lang="en-US" sz="1200" dirty="0">
                <a:sym typeface="Wingdings" panose="05000000000000000000" pitchFamily="2" charset="2"/>
              </a:rPr>
              <a:t>. Data </a:t>
            </a:r>
            <a:r>
              <a:rPr lang="en-US" sz="1200" dirty="0" err="1">
                <a:sym typeface="Wingdings" panose="05000000000000000000" pitchFamily="2" charset="2"/>
              </a:rPr>
              <a:t>pelanggan</a:t>
            </a:r>
            <a:r>
              <a:rPr lang="en-US" sz="1200" dirty="0">
                <a:sym typeface="Wingdings" panose="05000000000000000000" pitchFamily="2" charset="2"/>
              </a:rPr>
              <a:t> yang </a:t>
            </a:r>
            <a:r>
              <a:rPr lang="en-US" sz="1200" dirty="0" err="1">
                <a:sym typeface="Wingdings" panose="05000000000000000000" pitchFamily="2" charset="2"/>
              </a:rPr>
              <a:t>dikumpulkan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seperti</a:t>
            </a:r>
            <a:r>
              <a:rPr lang="en-US" sz="1200" dirty="0">
                <a:sym typeface="Wingdings" panose="05000000000000000000" pitchFamily="2" charset="2"/>
              </a:rPr>
              <a:t> Riwayat </a:t>
            </a:r>
            <a:r>
              <a:rPr lang="en-US" sz="1200" dirty="0" err="1">
                <a:sym typeface="Wingdings" panose="05000000000000000000" pitchFamily="2" charset="2"/>
              </a:rPr>
              <a:t>pembelian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preferensi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keluhan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atau</a:t>
            </a:r>
            <a:r>
              <a:rPr lang="en-US" sz="1200" dirty="0">
                <a:sym typeface="Wingdings" panose="05000000000000000000" pitchFamily="2" charset="2"/>
              </a:rPr>
              <a:t> data </a:t>
            </a:r>
            <a:r>
              <a:rPr lang="en-US" sz="1200" dirty="0" err="1">
                <a:sym typeface="Wingdings" panose="05000000000000000000" pitchFamily="2" charset="2"/>
              </a:rPr>
              <a:t>lainnya</a:t>
            </a:r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>
                <a:sym typeface="Wingdings" panose="05000000000000000000" pitchFamily="2" charset="2"/>
              </a:rPr>
              <a:t>Supply Chain Management (SCM)  </a:t>
            </a:r>
            <a:r>
              <a:rPr lang="en-US" sz="1200" dirty="0" err="1">
                <a:sym typeface="Wingdings" panose="05000000000000000000" pitchFamily="2" charset="2"/>
              </a:rPr>
              <a:t>Sistem</a:t>
            </a:r>
            <a:r>
              <a:rPr lang="en-US" sz="1200" dirty="0">
                <a:sym typeface="Wingdings" panose="05000000000000000000" pitchFamily="2" charset="2"/>
              </a:rPr>
              <a:t> yang </a:t>
            </a:r>
            <a:r>
              <a:rPr lang="en-US" sz="1200" dirty="0" err="1">
                <a:sym typeface="Wingdings" panose="05000000000000000000" pitchFamily="2" charset="2"/>
              </a:rPr>
              <a:t>digunakan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untuk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mengintegrasikan</a:t>
            </a:r>
            <a:r>
              <a:rPr lang="en-US" sz="1200" dirty="0">
                <a:sym typeface="Wingdings" panose="05000000000000000000" pitchFamily="2" charset="2"/>
              </a:rPr>
              <a:t> dan </a:t>
            </a:r>
            <a:r>
              <a:rPr lang="en-US" sz="1200" dirty="0" err="1">
                <a:sym typeface="Wingdings" panose="05000000000000000000" pitchFamily="2" charset="2"/>
              </a:rPr>
              <a:t>mengelola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rantai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pasokan</a:t>
            </a:r>
            <a:r>
              <a:rPr lang="en-US" sz="1200" dirty="0">
                <a:sym typeface="Wingdings" panose="05000000000000000000" pitchFamily="2" charset="2"/>
              </a:rPr>
              <a:t>, </a:t>
            </a:r>
            <a:r>
              <a:rPr lang="en-US" sz="1200" dirty="0" err="1">
                <a:sym typeface="Wingdings" panose="05000000000000000000" pitchFamily="2" charset="2"/>
              </a:rPr>
              <a:t>mulai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dari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pengadaan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bahan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baku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hingga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pengiriman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produk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akhir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kepada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pelanggan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akan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dikelola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dengan</a:t>
            </a:r>
            <a:r>
              <a:rPr lang="en-US" sz="1200" dirty="0">
                <a:sym typeface="Wingdings" panose="05000000000000000000" pitchFamily="2" charset="2"/>
              </a:rPr>
              <a:t> </a:t>
            </a:r>
            <a:r>
              <a:rPr lang="en-US" sz="1200" dirty="0" err="1">
                <a:sym typeface="Wingdings" panose="05000000000000000000" pitchFamily="2" charset="2"/>
              </a:rPr>
              <a:t>baik</a:t>
            </a:r>
            <a:endParaRPr lang="en-US" sz="1200" dirty="0">
              <a:sym typeface="Wingdings" panose="05000000000000000000" pitchFamily="2" charset="2"/>
            </a:endParaRPr>
          </a:p>
          <a:p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KMS (Knowledge Management System)</a:t>
            </a: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ID" sz="1200" dirty="0"/>
              <a:t>KMS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berbasis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yang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b="1" dirty="0" err="1"/>
              <a:t>mengelola</a:t>
            </a:r>
            <a:r>
              <a:rPr lang="en-ID" sz="1200" b="1" dirty="0"/>
              <a:t> </a:t>
            </a:r>
            <a:r>
              <a:rPr lang="en-ID" sz="1200" b="1" dirty="0" err="1"/>
              <a:t>pengetahuan</a:t>
            </a:r>
            <a:r>
              <a:rPr lang="en-ID" sz="1200" b="1" dirty="0"/>
              <a:t> (knowledge)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organisasi</a:t>
            </a:r>
            <a:r>
              <a:rPr lang="en-ID" sz="1200" dirty="0"/>
              <a:t>, </a:t>
            </a:r>
            <a:r>
              <a:rPr lang="en-ID" sz="1200" dirty="0" err="1"/>
              <a:t>baik</a:t>
            </a:r>
            <a:r>
              <a:rPr lang="en-ID" sz="1200" dirty="0"/>
              <a:t> </a:t>
            </a:r>
            <a:r>
              <a:rPr lang="en-ID" sz="1200" dirty="0" err="1"/>
              <a:t>berupa</a:t>
            </a:r>
            <a:r>
              <a:rPr lang="en-ID" sz="1200" dirty="0"/>
              <a:t> </a:t>
            </a:r>
            <a:r>
              <a:rPr lang="en-ID" sz="1200" dirty="0" err="1"/>
              <a:t>pengetahuan</a:t>
            </a:r>
            <a:r>
              <a:rPr lang="en-ID" sz="1200" dirty="0"/>
              <a:t> </a:t>
            </a:r>
            <a:r>
              <a:rPr lang="en-ID" sz="1200" dirty="0" err="1"/>
              <a:t>seperti</a:t>
            </a:r>
            <a:r>
              <a:rPr lang="en-ID" sz="1200" dirty="0"/>
              <a:t> </a:t>
            </a:r>
            <a:r>
              <a:rPr lang="en-ID" sz="1200" dirty="0" err="1"/>
              <a:t>pengalaman</a:t>
            </a:r>
            <a:r>
              <a:rPr lang="en-ID" sz="1200" dirty="0"/>
              <a:t>, ide, </a:t>
            </a:r>
            <a:r>
              <a:rPr lang="en-ID" sz="1200" dirty="0" err="1"/>
              <a:t>intuisi</a:t>
            </a:r>
            <a:r>
              <a:rPr lang="en-ID" sz="1200" dirty="0"/>
              <a:t> </a:t>
            </a:r>
            <a:r>
              <a:rPr lang="en-ID" sz="1200" dirty="0" err="1"/>
              <a:t>karyawan</a:t>
            </a:r>
            <a:r>
              <a:rPr lang="en-ID" sz="1200" dirty="0"/>
              <a:t> </a:t>
            </a:r>
            <a:r>
              <a:rPr lang="en-ID" sz="1200" dirty="0" err="1"/>
              <a:t>maupun</a:t>
            </a:r>
            <a:r>
              <a:rPr lang="en-ID" sz="1200" dirty="0"/>
              <a:t> </a:t>
            </a:r>
            <a:r>
              <a:rPr lang="en-ID" sz="1200" dirty="0" err="1"/>
              <a:t>dokumen</a:t>
            </a:r>
            <a:r>
              <a:rPr lang="en-ID" sz="1200" dirty="0"/>
              <a:t>, </a:t>
            </a:r>
            <a:r>
              <a:rPr lang="en-ID" sz="1200" dirty="0" err="1"/>
              <a:t>laporan</a:t>
            </a:r>
            <a:r>
              <a:rPr lang="en-ID" sz="1200" dirty="0"/>
              <a:t>, database.</a:t>
            </a:r>
            <a:endParaRPr lang="en-US" sz="1200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D" sz="1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D" sz="1200" dirty="0"/>
              <a:t>BI </a:t>
            </a:r>
            <a:r>
              <a:rPr lang="en-US" sz="1200" dirty="0"/>
              <a:t>(Business Intelligence)</a:t>
            </a:r>
            <a:r>
              <a:rPr lang="en-US" sz="1200" dirty="0">
                <a:sym typeface="Wingdings" panose="05000000000000000000" pitchFamily="2" charset="2"/>
              </a:rPr>
              <a:t>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sekumpulan</a:t>
            </a:r>
            <a:r>
              <a:rPr lang="en-ID" sz="1200" dirty="0"/>
              <a:t> </a:t>
            </a:r>
            <a:r>
              <a:rPr lang="en-ID" sz="1200" dirty="0" err="1"/>
              <a:t>teknologi</a:t>
            </a:r>
            <a:r>
              <a:rPr lang="en-ID" sz="1200" dirty="0"/>
              <a:t>, </a:t>
            </a:r>
            <a:r>
              <a:rPr lang="en-ID" sz="1200" dirty="0" err="1"/>
              <a:t>aplikasi</a:t>
            </a:r>
            <a:r>
              <a:rPr lang="en-ID" sz="1200" dirty="0"/>
              <a:t>, dan proses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b="1" dirty="0" err="1"/>
              <a:t>mengumpulkan</a:t>
            </a:r>
            <a:r>
              <a:rPr lang="en-ID" sz="1200" b="1" dirty="0"/>
              <a:t>, </a:t>
            </a:r>
            <a:r>
              <a:rPr lang="en-ID" sz="1200" b="1" dirty="0" err="1"/>
              <a:t>menganalisis</a:t>
            </a:r>
            <a:r>
              <a:rPr lang="en-ID" sz="1200" b="1" dirty="0"/>
              <a:t>, dan </a:t>
            </a:r>
            <a:r>
              <a:rPr lang="en-ID" sz="1200" b="1" dirty="0" err="1"/>
              <a:t>menyajikan</a:t>
            </a:r>
            <a:r>
              <a:rPr lang="en-ID" sz="1200" b="1" dirty="0"/>
              <a:t> data </a:t>
            </a:r>
            <a:r>
              <a:rPr lang="en-ID" sz="1200" b="1" dirty="0" err="1"/>
              <a:t>bisnis</a:t>
            </a:r>
            <a:r>
              <a:rPr lang="en-ID" sz="1200" dirty="0"/>
              <a:t> agar </a:t>
            </a:r>
            <a:r>
              <a:rPr lang="en-ID" sz="1200" dirty="0" err="1"/>
              <a:t>dapat</a:t>
            </a:r>
            <a:r>
              <a:rPr lang="en-ID" sz="1200" dirty="0"/>
              <a:t> </a:t>
            </a:r>
            <a:r>
              <a:rPr lang="en-ID" sz="1200" dirty="0" err="1"/>
              <a:t>digunakan</a:t>
            </a:r>
            <a:r>
              <a:rPr lang="en-ID" sz="1200" dirty="0"/>
              <a:t> </a:t>
            </a:r>
            <a:r>
              <a:rPr lang="en-ID" sz="1200" dirty="0" err="1"/>
              <a:t>sebagai</a:t>
            </a:r>
            <a:r>
              <a:rPr lang="en-ID" sz="1200" dirty="0"/>
              <a:t> </a:t>
            </a:r>
            <a:r>
              <a:rPr lang="en-ID" sz="1200" dirty="0" err="1"/>
              <a:t>dasar</a:t>
            </a:r>
            <a:r>
              <a:rPr lang="en-ID" sz="1200" dirty="0"/>
              <a:t> </a:t>
            </a:r>
            <a:r>
              <a:rPr lang="en-ID" sz="1200" dirty="0" err="1"/>
              <a:t>pengambilan</a:t>
            </a:r>
            <a:r>
              <a:rPr lang="en-ID" sz="1200" dirty="0"/>
              <a:t> </a:t>
            </a:r>
            <a:r>
              <a:rPr lang="en-ID" sz="1200" dirty="0" err="1"/>
              <a:t>keputusan</a:t>
            </a:r>
            <a:r>
              <a:rPr lang="en-ID" sz="1200" dirty="0"/>
              <a:t> </a:t>
            </a:r>
            <a:r>
              <a:rPr lang="en-ID" sz="1200" dirty="0" err="1"/>
              <a:t>strategis</a:t>
            </a:r>
            <a:r>
              <a:rPr lang="en-ID" sz="1200" dirty="0"/>
              <a:t>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37754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70447-700F-D58B-C4AC-1E3013F4F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400" dirty="0"/>
              <a:t>Manfaat </a:t>
            </a:r>
            <a:r>
              <a:rPr lang="en-ID" sz="2400" dirty="0" err="1"/>
              <a:t>Sistem</a:t>
            </a:r>
            <a:r>
              <a:rPr lang="en-ID" sz="2400" dirty="0"/>
              <a:t> Enterprise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4AF5-E585-D357-1C25-081DB047A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Efisiensi</a:t>
            </a:r>
            <a:r>
              <a:rPr lang="en-ID" dirty="0"/>
              <a:t> </a:t>
            </a:r>
            <a:r>
              <a:rPr lang="en-ID" dirty="0" err="1"/>
              <a:t>operasional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Pengambilan</a:t>
            </a:r>
            <a:r>
              <a:rPr lang="en-ID" dirty="0"/>
              <a:t> </a:t>
            </a:r>
            <a:r>
              <a:rPr lang="en-ID" dirty="0" err="1"/>
              <a:t>keputusan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baik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Kolaborasi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departemen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Kepuasan</a:t>
            </a:r>
            <a:r>
              <a:rPr lang="en-ID" dirty="0"/>
              <a:t> </a:t>
            </a:r>
            <a:r>
              <a:rPr lang="en-ID" dirty="0" err="1"/>
              <a:t>pelanggan</a:t>
            </a:r>
            <a:r>
              <a:rPr lang="en-ID" dirty="0"/>
              <a:t> </a:t>
            </a:r>
            <a:r>
              <a:rPr lang="en-ID" dirty="0" err="1"/>
              <a:t>meningkat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Transparansi</a:t>
            </a:r>
            <a:r>
              <a:rPr lang="en-ID" dirty="0"/>
              <a:t> &amp; </a:t>
            </a:r>
            <a:r>
              <a:rPr lang="en-ID" dirty="0" err="1"/>
              <a:t>akuntabilitas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57960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BCAA-892E-3163-5E8B-4195E0B9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400" dirty="0" err="1"/>
              <a:t>Tantangan</a:t>
            </a:r>
            <a:r>
              <a:rPr lang="en-ID" sz="2400" dirty="0"/>
              <a:t> </a:t>
            </a:r>
            <a:r>
              <a:rPr lang="en-ID" sz="2400" dirty="0" err="1"/>
              <a:t>Implementasi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83FE3-B75F-2E4D-793C-DC4B730B4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Biaya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 (</a:t>
            </a:r>
            <a:r>
              <a:rPr lang="en-ID" dirty="0" err="1"/>
              <a:t>lisensi</a:t>
            </a:r>
            <a:r>
              <a:rPr lang="en-ID" dirty="0"/>
              <a:t>, </a:t>
            </a:r>
            <a:r>
              <a:rPr lang="en-ID" dirty="0" err="1"/>
              <a:t>infrastruktur</a:t>
            </a:r>
            <a:r>
              <a:rPr lang="en-ID" dirty="0"/>
              <a:t>, </a:t>
            </a:r>
            <a:r>
              <a:rPr lang="en-ID" dirty="0" err="1"/>
              <a:t>pelatihan</a:t>
            </a:r>
            <a:r>
              <a:rPr lang="en-ID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Kompleksitas</a:t>
            </a:r>
            <a:r>
              <a:rPr lang="en-ID" dirty="0"/>
              <a:t> </a:t>
            </a:r>
            <a:r>
              <a:rPr lang="en-ID" dirty="0" err="1"/>
              <a:t>integrasi</a:t>
            </a:r>
            <a:r>
              <a:rPr lang="en-ID" dirty="0"/>
              <a:t> </a:t>
            </a:r>
            <a:r>
              <a:rPr lang="en-ID" dirty="0" err="1"/>
              <a:t>sistem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Resistensi </a:t>
            </a:r>
            <a:r>
              <a:rPr lang="en-ID" dirty="0" err="1"/>
              <a:t>pengguna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Integrasi </a:t>
            </a:r>
            <a:r>
              <a:rPr lang="en-ID" dirty="0" err="1"/>
              <a:t>dengan</a:t>
            </a:r>
            <a:r>
              <a:rPr lang="en-ID" dirty="0"/>
              <a:t> legacy system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Isu</a:t>
            </a:r>
            <a:r>
              <a:rPr lang="en-ID" dirty="0"/>
              <a:t> </a:t>
            </a:r>
            <a:r>
              <a:rPr lang="en-ID" dirty="0" err="1"/>
              <a:t>keamanan</a:t>
            </a:r>
            <a:r>
              <a:rPr lang="en-ID" dirty="0"/>
              <a:t> data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93545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75BF-F3D3-2BA7-7120-A94909CB5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400" dirty="0"/>
              <a:t>Contoh Implementasi di Dunia Nyata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0510B-4939-6F4B-BB5A-5F358BB84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• SAP ERP – Pertamina</a:t>
            </a:r>
          </a:p>
          <a:p>
            <a:r>
              <a:rPr lang="en-ID" dirty="0"/>
              <a:t>• Oracle ERP – Telkom Indonesia</a:t>
            </a:r>
          </a:p>
          <a:p>
            <a:r>
              <a:rPr lang="en-ID" dirty="0"/>
              <a:t>• Salesforce CRM – Shopee/Tokopedia</a:t>
            </a:r>
          </a:p>
          <a:p>
            <a:r>
              <a:rPr lang="en-ID" dirty="0"/>
              <a:t>• Odoo ERP – UMKM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78828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C96F3-06F9-A252-6AEF-3613ABD21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2400" dirty="0" err="1"/>
              <a:t>Aktivitas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 &amp; </a:t>
            </a:r>
            <a:r>
              <a:rPr lang="en-ID" sz="2400" dirty="0" err="1"/>
              <a:t>Tugas</a:t>
            </a:r>
            <a:endParaRPr lang="en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F7B2E-3CA7-9246-A500-DC5A885A5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dirty="0" err="1"/>
              <a:t>Diskusi</a:t>
            </a:r>
            <a:r>
              <a:rPr lang="en-ID" dirty="0"/>
              <a:t>: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enterprise.</a:t>
            </a:r>
          </a:p>
          <a:p>
            <a:endParaRPr lang="en-ID" dirty="0"/>
          </a:p>
          <a:p>
            <a:r>
              <a:rPr lang="en-ID" dirty="0"/>
              <a:t>Studi Kasus: </a:t>
            </a:r>
            <a:r>
              <a:rPr lang="en-ID" dirty="0" err="1"/>
              <a:t>Bandingkan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ERP dan </a:t>
            </a:r>
            <a:r>
              <a:rPr lang="en-ID" dirty="0" err="1"/>
              <a:t>tanpa</a:t>
            </a:r>
            <a:r>
              <a:rPr lang="en-ID" dirty="0"/>
              <a:t> ERP.</a:t>
            </a:r>
          </a:p>
          <a:p>
            <a:endParaRPr lang="en-ID" dirty="0"/>
          </a:p>
          <a:p>
            <a:r>
              <a:rPr lang="en-ID" dirty="0" err="1"/>
              <a:t>Tugas</a:t>
            </a:r>
            <a:r>
              <a:rPr lang="en-ID" dirty="0"/>
              <a:t> </a:t>
            </a:r>
            <a:r>
              <a:rPr lang="en-ID" dirty="0" err="1"/>
              <a:t>Individu</a:t>
            </a:r>
            <a:r>
              <a:rPr lang="en-ID" dirty="0"/>
              <a:t>: Esai 1–2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ERP/CRM di </a:t>
            </a:r>
            <a:r>
              <a:rPr lang="en-ID" dirty="0" err="1"/>
              <a:t>perusahaan</a:t>
            </a:r>
            <a:r>
              <a:rPr lang="en-ID" dirty="0"/>
              <a:t> Indonesia (</a:t>
            </a:r>
            <a:r>
              <a:rPr lang="en-ID" dirty="0" err="1"/>
              <a:t>manfaat</a:t>
            </a:r>
            <a:r>
              <a:rPr lang="en-ID" dirty="0"/>
              <a:t> &amp; </a:t>
            </a:r>
            <a:r>
              <a:rPr lang="en-ID" dirty="0" err="1"/>
              <a:t>tantangan</a:t>
            </a:r>
            <a:r>
              <a:rPr lang="en-ID" dirty="0"/>
              <a:t>).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41245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err="1">
                <a:solidFill>
                  <a:schemeClr val="accent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terimakasih</a:t>
            </a:r>
            <a:endParaRPr lang="en-US" sz="4400" b="1" dirty="0">
              <a:solidFill>
                <a:schemeClr val="accent6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400" dirty="0">
              <a:solidFill>
                <a:schemeClr val="accent6"/>
              </a:solidFill>
              <a:latin typeface="Sabon Next LT" panose="02000500000000000000" pitchFamily="2" charset="0"/>
              <a:cs typeface="Sabon Next LT" panose="02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8438558_Win32_v2" id="{4C05A457-285D-454C-A9EA-F338443A797C}" vid="{298C0BDB-2F83-41C5-B87D-3BE7246FD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D7EB4D8-2DC8-4900-B296-3F8E8CD9E6AE}">
  <ds:schemaRefs>
    <ds:schemaRef ds:uri="230e9df3-be65-4c73-a93b-d1236ebd677e"/>
    <ds:schemaRef ds:uri="http://schemas.microsoft.com/office/2006/metadata/properties"/>
    <ds:schemaRef ds:uri="71af3243-3dd4-4a8d-8c0d-dd76da1f02a5"/>
    <ds:schemaRef ds:uri="http://purl.org/dc/elements/1.1/"/>
    <ds:schemaRef ds:uri="http://schemas.microsoft.com/office/2006/documentManagement/types"/>
    <ds:schemaRef ds:uri="http://purl.org/dc/dcmitype/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1D2ED2F-BDEE-47B8-82AA-B088E838B0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A2982D6-A655-4F26-86D7-B5C32A625E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{126B9054-1BDA-4249-8FAE-DABF421DF2C5}tf78438558_win32</Template>
  <TotalTime>1743</TotalTime>
  <Words>618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Sabon Next LT</vt:lpstr>
      <vt:lpstr>Wingdings</vt:lpstr>
      <vt:lpstr>Office Theme</vt:lpstr>
      <vt:lpstr>Sistem enterprise</vt:lpstr>
      <vt:lpstr>AGENDA</vt:lpstr>
      <vt:lpstr>Jadwal perkuliahan </vt:lpstr>
      <vt:lpstr>Deskripsi Mata Kuliah</vt:lpstr>
      <vt:lpstr>Capaian Pembelajaran Pertemuan 1</vt:lpstr>
      <vt:lpstr>Definisi Sistem Enterprise</vt:lpstr>
      <vt:lpstr>Sejarah Perkembangan Sistem Enterprise</vt:lpstr>
      <vt:lpstr>Karakteristik Sistem Enterprise</vt:lpstr>
      <vt:lpstr>Komponen Utama Sistem Enterprise</vt:lpstr>
      <vt:lpstr>Jenis SE</vt:lpstr>
      <vt:lpstr>Manfaat Sistem Enterprise</vt:lpstr>
      <vt:lpstr>Tantangan Implementasi</vt:lpstr>
      <vt:lpstr>Contoh Implementasi di Dunia Nyata</vt:lpstr>
      <vt:lpstr>Aktivitas Kelas &amp; Tugas</vt:lpstr>
      <vt:lpstr>terimakasih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ENTERPRISE</dc:title>
  <dc:subject/>
  <dc:creator>hp</dc:creator>
  <cp:lastModifiedBy>hp</cp:lastModifiedBy>
  <cp:revision>6</cp:revision>
  <dcterms:created xsi:type="dcterms:W3CDTF">2023-09-19T02:41:14Z</dcterms:created>
  <dcterms:modified xsi:type="dcterms:W3CDTF">2025-09-23T14:33:04Z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